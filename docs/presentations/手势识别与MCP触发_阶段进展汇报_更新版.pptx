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开场：这不是最终产品，而是已能运行的技术验证</a:t>
            </a:r>
            <a:r>
              <a:rPr dirty="0"/>
              <a:t> Demo。</a:t>
            </a:r>
          </a:p>
          <a:p>
            <a:r>
              <a:rPr dirty="0" err="1"/>
              <a:t>本次汇报聚焦三件事：当前做到了什么、还有什么没做到、下一周如何把不确定性变成数据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/Documents/project/hand-</a:t>
            </a:r>
            <a:r>
              <a:rPr dirty="0" err="1"/>
              <a:t>landmarker</a:t>
            </a:r>
            <a:r>
              <a:rPr dirty="0"/>
              <a:t>-demo/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app.js</a:t>
            </a:r>
            <a:endParaRPr dirty="0"/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老板可直接记住：我们已经证明识别可行，但还没有证明它能长期稳定地替用户执行动作</a:t>
            </a:r>
            <a:r>
              <a:rPr dirty="0"/>
              <a:t>。</a:t>
            </a:r>
          </a:p>
          <a:p>
            <a:r>
              <a:rPr dirty="0" err="1"/>
              <a:t>延迟数据为本机浏览器端单次算法调用，不是摄像头到动作执行的完整端到端时延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截图为实际</a:t>
            </a:r>
            <a:r>
              <a:rPr dirty="0"/>
              <a:t> Demo </a:t>
            </a:r>
            <a:r>
              <a:rPr dirty="0" err="1"/>
              <a:t>运行状态，显示关键点、左右手、手势和置信度</a:t>
            </a:r>
            <a:r>
              <a:rPr dirty="0"/>
              <a:t>。</a:t>
            </a:r>
          </a:p>
          <a:p>
            <a:r>
              <a:rPr dirty="0"/>
              <a:t>延迟测试：1280×720 </a:t>
            </a:r>
            <a:r>
              <a:rPr dirty="0" err="1"/>
              <a:t>摄像头输入，模型预热</a:t>
            </a:r>
            <a:r>
              <a:rPr dirty="0"/>
              <a:t> 10 </a:t>
            </a:r>
            <a:r>
              <a:rPr dirty="0" err="1"/>
              <a:t>次，recognizeForVideo</a:t>
            </a:r>
            <a:r>
              <a:rPr dirty="0"/>
              <a:t> </a:t>
            </a:r>
            <a:r>
              <a:rPr dirty="0" err="1"/>
              <a:t>连续</a:t>
            </a:r>
            <a:r>
              <a:rPr dirty="0"/>
              <a:t> 60 </a:t>
            </a:r>
            <a:r>
              <a:rPr dirty="0" err="1"/>
              <a:t>次</a:t>
            </a:r>
            <a:r>
              <a:rPr dirty="0"/>
              <a:t>。</a:t>
            </a:r>
          </a:p>
          <a:p>
            <a:r>
              <a:rPr dirty="0" err="1"/>
              <a:t>均值</a:t>
            </a:r>
            <a:r>
              <a:rPr dirty="0"/>
              <a:t> 18.58 ms，P50 17.7 ms，P95 24.6 </a:t>
            </a:r>
            <a:r>
              <a:rPr dirty="0" err="1"/>
              <a:t>ms，最小</a:t>
            </a:r>
            <a:r>
              <a:rPr dirty="0"/>
              <a:t> 16.9 </a:t>
            </a:r>
            <a:r>
              <a:rPr dirty="0" err="1"/>
              <a:t>ms，最大</a:t>
            </a:r>
            <a:r>
              <a:rPr dirty="0"/>
              <a:t> 27.6 </a:t>
            </a:r>
            <a:r>
              <a:rPr dirty="0" err="1"/>
              <a:t>ms</a:t>
            </a:r>
            <a:r>
              <a:rPr dirty="0"/>
              <a:t>。</a:t>
            </a:r>
          </a:p>
          <a:p>
            <a:r>
              <a:rPr dirty="0"/>
              <a:t>该数据只代表当前机器与浏览器的算法调用耗时，完整响应还包括摄像头采集、5 </a:t>
            </a:r>
            <a:r>
              <a:rPr dirty="0" err="1"/>
              <a:t>帧平滑、界面刷新和动作执行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/Documents/project/hand-</a:t>
            </a:r>
            <a:r>
              <a:rPr dirty="0" err="1"/>
              <a:t>landmarker</a:t>
            </a:r>
            <a:r>
              <a:rPr dirty="0"/>
              <a:t>-demo/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app.js</a:t>
            </a:r>
            <a:endParaRPr dirty="0"/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/Documents/project/hand-</a:t>
            </a:r>
            <a:r>
              <a:rPr dirty="0" err="1"/>
              <a:t>landmarker</a:t>
            </a:r>
            <a:r>
              <a:rPr dirty="0"/>
              <a:t>-demo/</a:t>
            </a:r>
            <a:r>
              <a:rPr dirty="0" err="1"/>
              <a:t>src</a:t>
            </a:r>
            <a:r>
              <a:rPr dirty="0"/>
              <a:t>/gesture-</a:t>
            </a:r>
            <a:r>
              <a:rPr dirty="0" err="1"/>
              <a:t>classifier.js</a:t>
            </a:r>
            <a:endParaRPr dirty="0"/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</a:t>
            </a:r>
            <a:r>
              <a:rPr dirty="0" err="1"/>
              <a:t>demo.png</a:t>
            </a:r>
            <a:endParaRPr dirty="0"/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这一页用于主动管理预期：当前</a:t>
            </a:r>
            <a:r>
              <a:rPr dirty="0"/>
              <a:t> Demo </a:t>
            </a:r>
            <a:r>
              <a:rPr dirty="0" err="1"/>
              <a:t>的优势是链路清晰、可本地运行；限制是泛化能力还没有被系统验证</a:t>
            </a:r>
            <a:r>
              <a:rPr dirty="0"/>
              <a:t>。</a:t>
            </a:r>
          </a:p>
          <a:p>
            <a:r>
              <a:rPr dirty="0" err="1"/>
              <a:t>方向语义需另行定义：例如同一个食指伸出，可指向屏幕上、下、左、右，目前并未输出这四类方向</a:t>
            </a:r>
            <a:r>
              <a:rPr dirty="0"/>
              <a:t>。</a:t>
            </a:r>
          </a:p>
          <a:p>
            <a:r>
              <a:rPr dirty="0" err="1"/>
              <a:t>两只以上的手不是模型理论上永远不可能，而是当前实现的</a:t>
            </a:r>
            <a:r>
              <a:rPr dirty="0"/>
              <a:t> </a:t>
            </a:r>
            <a:r>
              <a:rPr dirty="0" err="1"/>
              <a:t>numHands</a:t>
            </a:r>
            <a:r>
              <a:rPr dirty="0"/>
              <a:t> </a:t>
            </a:r>
            <a:r>
              <a:rPr dirty="0" err="1"/>
              <a:t>配置和界面</a:t>
            </a:r>
            <a:r>
              <a:rPr dirty="0"/>
              <a:t>/</a:t>
            </a:r>
            <a:r>
              <a:rPr dirty="0" err="1"/>
              <a:t>事件设计只覆盖到</a:t>
            </a:r>
            <a:r>
              <a:rPr dirty="0"/>
              <a:t> 2。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/Documents/project/hand-</a:t>
            </a:r>
            <a:r>
              <a:rPr dirty="0" err="1"/>
              <a:t>landmarker</a:t>
            </a:r>
            <a:r>
              <a:rPr dirty="0"/>
              <a:t>-demo/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app.js</a:t>
            </a:r>
            <a:endParaRPr dirty="0"/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四种方式可以共存：单次识别是工具调用；实时检测是会话模式；文字指令明确启动；Thumb</a:t>
            </a:r>
            <a:r>
              <a:rPr dirty="0"/>
              <a:t> Up </a:t>
            </a:r>
            <a:r>
              <a:rPr dirty="0" err="1"/>
              <a:t>是中间态唤醒</a:t>
            </a:r>
            <a:r>
              <a:rPr dirty="0"/>
              <a:t>。</a:t>
            </a:r>
          </a:p>
          <a:p>
            <a:r>
              <a:rPr dirty="0" err="1"/>
              <a:t>建议将</a:t>
            </a:r>
            <a:r>
              <a:rPr dirty="0"/>
              <a:t> Thumb Up </a:t>
            </a:r>
            <a:r>
              <a:rPr dirty="0" err="1"/>
              <a:t>描述为低频</a:t>
            </a:r>
            <a:r>
              <a:rPr dirty="0"/>
              <a:t>/</a:t>
            </a:r>
            <a:r>
              <a:rPr dirty="0" err="1"/>
              <a:t>低负载运行，是否真正低功耗必须用</a:t>
            </a:r>
            <a:r>
              <a:rPr dirty="0"/>
              <a:t> </a:t>
            </a:r>
            <a:r>
              <a:rPr dirty="0" err="1"/>
              <a:t>CPU、能耗和温升数据验证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  <a:p>
            <a:r>
              <a:rPr dirty="0"/>
              <a:t>
</a:t>
            </a:r>
            <a:r>
              <a:rPr dirty="0" err="1"/>
              <a:t>讲解口径：先按发起方分成被动响应型、用户唤醒型和持续监听型，再解释四种实现方式。Thumb</a:t>
            </a:r>
            <a:r>
              <a:rPr dirty="0"/>
              <a:t> Up </a:t>
            </a:r>
            <a:r>
              <a:rPr dirty="0" err="1"/>
              <a:t>技术上需要低频后台检测，但交互意图由用户主动发起，因此归入用户唤醒型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工程落地的最重要差异：识别错误不只影响界面显示，还可能触发真实电脑操作</a:t>
            </a:r>
            <a:r>
              <a:rPr dirty="0"/>
              <a:t>。</a:t>
            </a:r>
          </a:p>
          <a:p>
            <a:r>
              <a:rPr dirty="0" err="1"/>
              <a:t>因此安全机制必须前置，包括持续帧确认、白名单、冷却、撤销、日志和明确退出手势</a:t>
            </a:r>
            <a:r>
              <a:rPr dirty="0"/>
              <a:t>/</a:t>
            </a:r>
            <a:r>
              <a:rPr dirty="0" err="1"/>
              <a:t>按钮</a:t>
            </a:r>
            <a:r>
              <a:rPr dirty="0"/>
              <a:t>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本周目标不是承诺全部问题解决，而是形成可复现数据和明确的工程决策</a:t>
            </a:r>
            <a:r>
              <a:rPr dirty="0"/>
              <a:t>。</a:t>
            </a:r>
          </a:p>
          <a:p>
            <a:r>
              <a:rPr dirty="0" err="1"/>
              <a:t>周末需要交付：测试矩阵、关键指标、MCP</a:t>
            </a:r>
            <a:r>
              <a:rPr dirty="0"/>
              <a:t> </a:t>
            </a:r>
            <a:r>
              <a:rPr dirty="0" err="1"/>
              <a:t>工具原型、推荐交互模式以及下一阶段工作量评估</a:t>
            </a:r>
            <a:r>
              <a:rPr dirty="0"/>
              <a:t>。</a:t>
            </a:r>
          </a:p>
          <a:p>
            <a:r>
              <a:rPr dirty="0" err="1"/>
              <a:t>对老板的结束语：下一次汇报将从‘能演示’升级为‘有指标、有边界、有推荐方案</a:t>
            </a:r>
            <a:r>
              <a:rPr dirty="0"/>
              <a:t>’。</a:t>
            </a:r>
          </a:p>
          <a:p>
            <a:r>
              <a:rPr dirty="0"/>
              <a:t>[Sources]</a:t>
            </a:r>
          </a:p>
          <a:p>
            <a:r>
              <a:rPr dirty="0"/>
              <a:t>/Users/</a:t>
            </a:r>
            <a:r>
              <a:rPr dirty="0" err="1"/>
              <a:t>zwj</a:t>
            </a:r>
            <a:r>
              <a:rPr dirty="0"/>
              <a:t>/Documents/</a:t>
            </a:r>
            <a:r>
              <a:rPr dirty="0" err="1"/>
              <a:t>手部识别</a:t>
            </a:r>
            <a:r>
              <a:rPr dirty="0"/>
              <a:t>/.ppt-build/progress-report/source-</a:t>
            </a:r>
            <a:r>
              <a:rPr dirty="0" err="1"/>
              <a:t>notes.txt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880C618-B3C6-4490-A8F0-2E6DE836E6BC}"/>
              </a:ext>
            </a:extLst>
          </p:cNvPr>
          <p:cNvSpPr>
            <a:spLocks noGrp="1"/>
          </p:cNvSpPr>
          <p:nvPr/>
        </p:nvSpPr>
        <p:spPr>
          <a:xfrm>
            <a:off x="0" y="289034"/>
            <a:ext cx="12192000" cy="6858000"/>
          </a:xfrm>
          <a:prstGeom prst="rect">
            <a:avLst/>
          </a:prstGeom>
          <a:solidFill>
            <a:srgbClr val="071424"/>
          </a:solidFill>
          <a:ln w="0">
            <a:noFill/>
            <a:prstDash val="solid"/>
          </a:ln>
        </p:spPr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584C65BC-9414-4EDD-B558-5A60163B3EA0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5334000" cy="44767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6A71"/>
              </a:gs>
              <a:gs pos="100000">
                <a:srgbClr val="071424"/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8CAC9D4-D3CA-433C-83AA-2F6C5CC13BCB}"/>
              </a:ext>
            </a:extLst>
          </p:cNvPr>
          <p:cNvSpPr>
            <a:spLocks noGrp="1"/>
          </p:cNvSpPr>
          <p:nvPr/>
        </p:nvSpPr>
        <p:spPr>
          <a:xfrm>
            <a:off x="647700" y="609600"/>
            <a:ext cx="1657350" cy="285750"/>
          </a:xfrm>
          <a:prstGeom prst="roundRect">
            <a:avLst>
              <a:gd name="adj" fmla="val 50000"/>
            </a:avLst>
          </a:prstGeom>
          <a:solidFill>
            <a:srgbClr val="0D2A35"/>
          </a:solidFill>
          <a:ln w="9525">
            <a:solidFill>
              <a:srgbClr val="64E1C3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C00F48-194D-4738-8EA9-D1DB5953FB45}"/>
              </a:ext>
            </a:extLst>
          </p:cNvPr>
          <p:cNvSpPr>
            <a:spLocks noGrp="1"/>
          </p:cNvSpPr>
          <p:nvPr/>
        </p:nvSpPr>
        <p:spPr>
          <a:xfrm>
            <a:off x="647700" y="619125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LOCAL · ON-DEVICE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3986F1-8520-42D1-9E29-C490E1289101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8001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手势识别与 MCP 触发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9DCDC9-FD13-49B8-97F3-E09E7320220A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阶段进展与一周验证计划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C4BDC5-12DE-4511-A66D-D591684BE4B7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从“摄像头看懂手势”走向“稳定触发电脑动作”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0D72F98-D418-414F-9AE1-B5AAF4422933}"/>
              </a:ext>
            </a:extLst>
          </p:cNvPr>
          <p:cNvSpPr>
            <a:spLocks noGrp="1"/>
          </p:cNvSpPr>
          <p:nvPr/>
        </p:nvSpPr>
        <p:spPr>
          <a:xfrm>
            <a:off x="647700" y="4343400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BE872-B90F-494E-BE73-A8F776A7C2AD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当前结论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88011-24F1-4B18-9650-D6B9BC2B6A6A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识别链路已跑通；下一阶段重点是稳定性、交互模式与工具化边界。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56469C3-FE6C-4CA6-B7FA-213D0DC50736}"/>
              </a:ext>
            </a:extLst>
          </p:cNvPr>
          <p:cNvSpPr>
            <a:spLocks noGrp="1"/>
          </p:cNvSpPr>
          <p:nvPr/>
        </p:nvSpPr>
        <p:spPr>
          <a:xfrm>
            <a:off x="8715375" y="4114800"/>
            <a:ext cx="2381250" cy="1466850"/>
          </a:xfrm>
          <a:prstGeom prst="roundRect">
            <a:avLst>
              <a:gd name="adj" fmla="val 7792"/>
            </a:avLst>
          </a:prstGeom>
          <a:solidFill>
            <a:srgbClr val="0A1D30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4D5DD8-1B9B-40FB-9773-9E3D21F303C1}"/>
              </a:ext>
            </a:extLst>
          </p:cNvPr>
          <p:cNvSpPr>
            <a:spLocks noGrp="1"/>
          </p:cNvSpPr>
          <p:nvPr/>
        </p:nvSpPr>
        <p:spPr>
          <a:xfrm>
            <a:off x="8972550" y="4343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汇报内容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3EF5E2-559D-44DB-8116-153D11B51CEE}"/>
              </a:ext>
            </a:extLst>
          </p:cNvPr>
          <p:cNvSpPr>
            <a:spLocks noGrp="1"/>
          </p:cNvSpPr>
          <p:nvPr/>
        </p:nvSpPr>
        <p:spPr>
          <a:xfrm>
            <a:off x="8972550" y="4667250"/>
            <a:ext cx="1619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426" lnSpcReduction="10000"/>
          </a:bodyPr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01  当前效果</a:t>
            </a: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02  能力边界</a:t>
            </a: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03  交互方式</a:t>
            </a:r>
          </a:p>
          <a:p>
            <a:pPr algn="l">
              <a:lnSpc>
                <a:spcPct val="125000"/>
              </a:lnSpc>
              <a:buNone/>
              <a:def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04  实验计划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87ECDB-68AB-4E8F-8EE3-4DB2CF8B2580}"/>
              </a:ext>
            </a:extLst>
          </p:cNvPr>
          <p:cNvSpPr>
            <a:spLocks noGrp="1"/>
          </p:cNvSpPr>
          <p:nvPr/>
        </p:nvSpPr>
        <p:spPr>
          <a:xfrm>
            <a:off x="647700" y="62484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06195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F7E821E-7BA0-4D73-922E-4E180E30F1F0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42A081-CF4E-4364-B3E6-8DB7D1371529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先说结论：技术链路已跑通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B397DA-27D6-4769-827E-4B4CAAA77B2A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当前是可演示原型，距离稳定产品还差工程验证与触发闭环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892944-D0A5-4240-8D2D-387C2C20AE8A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64EAAD1-92EF-4CB9-ACF8-481B6E7BF171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3333750" cy="2400300"/>
          </a:xfrm>
          <a:prstGeom prst="roundRect">
            <a:avLst>
              <a:gd name="adj" fmla="val 4762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CA73D24-4ACE-467E-BF2D-427744F46AFA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7810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64E1C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EF9803-FC62-426A-BDC5-285AA31D66C7}"/>
              </a:ext>
            </a:extLst>
          </p:cNvPr>
          <p:cNvSpPr>
            <a:spLocks noGrp="1"/>
          </p:cNvSpPr>
          <p:nvPr/>
        </p:nvSpPr>
        <p:spPr>
          <a:xfrm>
            <a:off x="781050" y="17049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已跑通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2626F4-AEBF-4F6A-9307-C660BB8F202F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摄像头 → 关键点 → 手势 → 页面反馈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B2027E-5ACB-437B-94B9-597A9E2FB41D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287655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EB213B-51D0-4DCF-9B05-A2ECEA666A8B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能实时展示 21 点骨架、左右手、类别与置信度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16F88A2-EF82-4826-BF26-C6B9ECC3EE1C}"/>
              </a:ext>
            </a:extLst>
          </p:cNvPr>
          <p:cNvSpPr>
            <a:spLocks noGrp="1"/>
          </p:cNvSpPr>
          <p:nvPr/>
        </p:nvSpPr>
        <p:spPr>
          <a:xfrm>
            <a:off x="4286250" y="1466850"/>
            <a:ext cx="3333750" cy="2400300"/>
          </a:xfrm>
          <a:prstGeom prst="roundRect">
            <a:avLst>
              <a:gd name="adj" fmla="val 4762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618667D-B31C-4439-A0C8-6F509DAC0ED8}"/>
              </a:ext>
            </a:extLst>
          </p:cNvPr>
          <p:cNvSpPr>
            <a:spLocks noGrp="1"/>
          </p:cNvSpPr>
          <p:nvPr/>
        </p:nvSpPr>
        <p:spPr>
          <a:xfrm>
            <a:off x="4514850" y="1695450"/>
            <a:ext cx="7810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70C8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886AAC-9364-4E08-81E4-EAB68ACB56DC}"/>
              </a:ext>
            </a:extLst>
          </p:cNvPr>
          <p:cNvSpPr>
            <a:spLocks noGrp="1"/>
          </p:cNvSpPr>
          <p:nvPr/>
        </p:nvSpPr>
        <p:spPr>
          <a:xfrm>
            <a:off x="4514850" y="17049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已量化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EF5BE3-F1F3-4DC5-BAB9-0BD11D108C8E}"/>
              </a:ext>
            </a:extLst>
          </p:cNvPr>
          <p:cNvSpPr>
            <a:spLocks noGrp="1"/>
          </p:cNvSpPr>
          <p:nvPr/>
        </p:nvSpPr>
        <p:spPr>
          <a:xfrm>
            <a:off x="4514850" y="220980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平均 18.58 ms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1F0039-9392-4427-BAAD-AD992DE0FCE9}"/>
              </a:ext>
            </a:extLst>
          </p:cNvPr>
          <p:cNvSpPr>
            <a:spLocks noGrp="1"/>
          </p:cNvSpPr>
          <p:nvPr/>
        </p:nvSpPr>
        <p:spPr>
          <a:xfrm>
            <a:off x="4514850" y="3048000"/>
            <a:ext cx="287655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6F41FF-CCEA-409A-A1E3-6C2FEAD5D386}"/>
              </a:ext>
            </a:extLst>
          </p:cNvPr>
          <p:cNvSpPr>
            <a:spLocks noGrp="1"/>
          </p:cNvSpPr>
          <p:nvPr/>
        </p:nvSpPr>
        <p:spPr>
          <a:xfrm>
            <a:off x="4514850" y="32575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本机 1280×720、60 次算法调用；P95 24.6 ms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21C283F-9B88-49DE-A5D4-0D4762600CF1}"/>
              </a:ext>
            </a:extLst>
          </p:cNvPr>
          <p:cNvSpPr>
            <a:spLocks noGrp="1"/>
          </p:cNvSpPr>
          <p:nvPr/>
        </p:nvSpPr>
        <p:spPr>
          <a:xfrm>
            <a:off x="8020050" y="1466850"/>
            <a:ext cx="3333750" cy="2400300"/>
          </a:xfrm>
          <a:prstGeom prst="roundRect">
            <a:avLst>
              <a:gd name="adj" fmla="val 4762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01F161B-7C05-437D-AAF5-9FEB2EFA78F2}"/>
              </a:ext>
            </a:extLst>
          </p:cNvPr>
          <p:cNvSpPr>
            <a:spLocks noGrp="1"/>
          </p:cNvSpPr>
          <p:nvPr/>
        </p:nvSpPr>
        <p:spPr>
          <a:xfrm>
            <a:off x="8248650" y="1695450"/>
            <a:ext cx="7810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569D49-1A7F-4E2B-9171-2114D4F0074D}"/>
              </a:ext>
            </a:extLst>
          </p:cNvPr>
          <p:cNvSpPr>
            <a:spLocks noGrp="1"/>
          </p:cNvSpPr>
          <p:nvPr/>
        </p:nvSpPr>
        <p:spPr>
          <a:xfrm>
            <a:off x="8248650" y="1704975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下一关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3326E5-FE9E-4F3F-9976-8C5DF5B3D650}"/>
              </a:ext>
            </a:extLst>
          </p:cNvPr>
          <p:cNvSpPr>
            <a:spLocks noGrp="1"/>
          </p:cNvSpPr>
          <p:nvPr/>
        </p:nvSpPr>
        <p:spPr>
          <a:xfrm>
            <a:off x="8248650" y="2209800"/>
            <a:ext cx="285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稳定触发电脑动作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5C1492-EA48-40E4-A510-2F246F6F698E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287655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921519-4B98-4654-BB10-E24F322594A0}"/>
              </a:ext>
            </a:extLst>
          </p:cNvPr>
          <p:cNvSpPr>
            <a:spLocks noGrp="1"/>
          </p:cNvSpPr>
          <p:nvPr/>
        </p:nvSpPr>
        <p:spPr>
          <a:xfrm>
            <a:off x="8248650" y="32575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控制误触发、资源占用、权限安全与动作执行失败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54D44F0-909B-4CCD-9D94-E0BE25CF9608}"/>
              </a:ext>
            </a:extLst>
          </p:cNvPr>
          <p:cNvSpPr>
            <a:spLocks noGrp="1"/>
          </p:cNvSpPr>
          <p:nvPr/>
        </p:nvSpPr>
        <p:spPr>
          <a:xfrm>
            <a:off x="552450" y="4229100"/>
            <a:ext cx="10801350" cy="1600200"/>
          </a:xfrm>
          <a:prstGeom prst="roundRect">
            <a:avLst>
              <a:gd name="adj" fmla="val 7143"/>
            </a:avLst>
          </a:prstGeom>
          <a:solidFill>
            <a:srgbClr val="0B2533"/>
          </a:solidFill>
          <a:ln w="9525">
            <a:solidFill>
              <a:srgbClr val="1A5960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66A3D4-6788-40A0-B8FF-486436B02D82}"/>
              </a:ext>
            </a:extLst>
          </p:cNvPr>
          <p:cNvSpPr>
            <a:spLocks noGrp="1"/>
          </p:cNvSpPr>
          <p:nvPr/>
        </p:nvSpPr>
        <p:spPr>
          <a:xfrm>
            <a:off x="800100" y="4457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判断标准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B45F53-597B-4D9A-93D3-8B8A97979BEA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3333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Demo 成功 ≠ 产品落地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89268A-FDD4-4662-BCBD-07836B690D20}"/>
              </a:ext>
            </a:extLst>
          </p:cNvPr>
          <p:cNvSpPr>
            <a:spLocks noGrp="1"/>
          </p:cNvSpPr>
          <p:nvPr/>
        </p:nvSpPr>
        <p:spPr>
          <a:xfrm>
            <a:off x="4229100" y="4762500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本周不追求新增大量手势，而是优先确认：何时触发、能否稳定、资源是否可接受、错误是否可恢复。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67F362-545E-417B-AA6F-3ADF0F5A398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BCC4A7-E095-4ED1-AFF0-A548193AB942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341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B5A83392-867B-4725-9026-B4819CDA910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00B189-75F8-4660-8B3D-9ABCCE3BC67D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当前效果：8 类手势、每手 21 个关键点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E84BB-3F39-4E90-B728-57AC0F149846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本地浏览器实时运行，最多同时识别 2 只手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482CCA-E248-4F1A-A745-20AFC7D3B0B7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594F093-02BD-4ACF-AD3E-D115A67457E3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4038600" cy="4686300"/>
          </a:xfrm>
          <a:prstGeom prst="roundRect">
            <a:avLst>
              <a:gd name="adj" fmla="val 2830"/>
            </a:avLst>
          </a:prstGeom>
          <a:solidFill>
            <a:srgbClr val="06111F"/>
          </a:solidFill>
          <a:ln w="9525">
            <a:solidFill>
              <a:srgbClr val="1E3A4D"/>
            </a:solidFill>
            <a:prstDash val="solid"/>
          </a:ln>
        </p:spPr>
      </p:sp>
      <p:pic>
        <p:nvPicPr>
          <p:cNvPr id="49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7893" y="1447800"/>
            <a:ext cx="1907713" cy="4495800"/>
          </a:xfrm>
          <a:prstGeom prst="roundRect">
            <a:avLst>
              <a:gd name="adj" fmla="val 2020"/>
            </a:avLst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595BF494-8CA2-48CF-A9FB-BAE2044BCF8F}"/>
              </a:ext>
            </a:extLst>
          </p:cNvPr>
          <p:cNvSpPr>
            <a:spLocks noGrp="1"/>
          </p:cNvSpPr>
          <p:nvPr/>
        </p:nvSpPr>
        <p:spPr>
          <a:xfrm>
            <a:off x="4953000" y="1352550"/>
            <a:ext cx="1962150" cy="1200150"/>
          </a:xfrm>
          <a:prstGeom prst="roundRect">
            <a:avLst>
              <a:gd name="adj" fmla="val 9524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E52CD7-AFC2-4366-8FAA-F690FAD1B84F}"/>
              </a:ext>
            </a:extLst>
          </p:cNvPr>
          <p:cNvSpPr>
            <a:spLocks noGrp="1"/>
          </p:cNvSpPr>
          <p:nvPr/>
        </p:nvSpPr>
        <p:spPr>
          <a:xfrm>
            <a:off x="5143500" y="15430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EDE095-3EB2-4B0D-9166-61E07371713A}"/>
              </a:ext>
            </a:extLst>
          </p:cNvPr>
          <p:cNvSpPr>
            <a:spLocks noGrp="1"/>
          </p:cNvSpPr>
          <p:nvPr/>
        </p:nvSpPr>
        <p:spPr>
          <a:xfrm>
            <a:off x="5143500" y="211455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有效静态手势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301D885-D820-40DB-AF8F-01DB7C6AABCD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962150" cy="1200150"/>
          </a:xfrm>
          <a:prstGeom prst="roundRect">
            <a:avLst>
              <a:gd name="adj" fmla="val 9524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EB0185-290A-45D1-8880-81C8A1C5EA17}"/>
              </a:ext>
            </a:extLst>
          </p:cNvPr>
          <p:cNvSpPr>
            <a:spLocks noGrp="1"/>
          </p:cNvSpPr>
          <p:nvPr/>
        </p:nvSpPr>
        <p:spPr>
          <a:xfrm>
            <a:off x="7334250" y="15430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B10234-48A1-4322-9665-31200AA60555}"/>
              </a:ext>
            </a:extLst>
          </p:cNvPr>
          <p:cNvSpPr>
            <a:spLocks noGrp="1"/>
          </p:cNvSpPr>
          <p:nvPr/>
        </p:nvSpPr>
        <p:spPr>
          <a:xfrm>
            <a:off x="7334250" y="211455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每只手关键点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45FB5C1-021F-4063-869D-15CF3CF58D6E}"/>
              </a:ext>
            </a:extLst>
          </p:cNvPr>
          <p:cNvSpPr>
            <a:spLocks noGrp="1"/>
          </p:cNvSpPr>
          <p:nvPr/>
        </p:nvSpPr>
        <p:spPr>
          <a:xfrm>
            <a:off x="9334500" y="1352550"/>
            <a:ext cx="1962150" cy="1200150"/>
          </a:xfrm>
          <a:prstGeom prst="roundRect">
            <a:avLst>
              <a:gd name="adj" fmla="val 9524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1D89F0-D6F6-4373-A814-CA56A6FA982C}"/>
              </a:ext>
            </a:extLst>
          </p:cNvPr>
          <p:cNvSpPr>
            <a:spLocks noGrp="1"/>
          </p:cNvSpPr>
          <p:nvPr/>
        </p:nvSpPr>
        <p:spPr>
          <a:xfrm>
            <a:off x="9525000" y="154305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300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A57B63-F9F9-4487-A0D8-2C32A5EA166D}"/>
              </a:ext>
            </a:extLst>
          </p:cNvPr>
          <p:cNvSpPr>
            <a:spLocks noGrp="1"/>
          </p:cNvSpPr>
          <p:nvPr/>
        </p:nvSpPr>
        <p:spPr>
          <a:xfrm>
            <a:off x="9525000" y="2114550"/>
            <a:ext cx="1581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当前最大手数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A1DF326-1194-4C77-8A0E-FE2AAF7D260C}"/>
              </a:ext>
            </a:extLst>
          </p:cNvPr>
          <p:cNvSpPr>
            <a:spLocks noGrp="1"/>
          </p:cNvSpPr>
          <p:nvPr/>
        </p:nvSpPr>
        <p:spPr>
          <a:xfrm>
            <a:off x="4953000" y="2743200"/>
            <a:ext cx="6343650" cy="1409700"/>
          </a:xfrm>
          <a:prstGeom prst="roundRect">
            <a:avLst>
              <a:gd name="adj" fmla="val 8108"/>
            </a:avLst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63F005-72C3-4A31-B9E8-186F9FF46649}"/>
              </a:ext>
            </a:extLst>
          </p:cNvPr>
          <p:cNvSpPr>
            <a:spLocks noGrp="1"/>
          </p:cNvSpPr>
          <p:nvPr/>
        </p:nvSpPr>
        <p:spPr>
          <a:xfrm>
            <a:off x="5181600" y="2952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本机推理耗时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AAE107-4287-4559-8C24-B88A0AC048C6}"/>
              </a:ext>
            </a:extLst>
          </p:cNvPr>
          <p:cNvSpPr>
            <a:spLocks noGrp="1"/>
          </p:cNvSpPr>
          <p:nvPr/>
        </p:nvSpPr>
        <p:spPr>
          <a:xfrm>
            <a:off x="5181600" y="32766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6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18.58 ms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35A279-FA72-4C13-82CB-522E2EB05BAA}"/>
              </a:ext>
            </a:extLst>
          </p:cNvPr>
          <p:cNvSpPr>
            <a:spLocks noGrp="1"/>
          </p:cNvSpPr>
          <p:nvPr/>
        </p:nvSpPr>
        <p:spPr>
          <a:xfrm>
            <a:off x="7677150" y="32575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P50  17.7 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99F6EE-75EE-4529-A3CA-08B64B1F6411}"/>
              </a:ext>
            </a:extLst>
          </p:cNvPr>
          <p:cNvSpPr>
            <a:spLocks noGrp="1"/>
          </p:cNvSpPr>
          <p:nvPr/>
        </p:nvSpPr>
        <p:spPr>
          <a:xfrm>
            <a:off x="7677150" y="360045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P95  24.6 ms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E8D811-F5F2-495A-8708-24000A39EAD5}"/>
              </a:ext>
            </a:extLst>
          </p:cNvPr>
          <p:cNvSpPr>
            <a:spLocks noGrp="1"/>
          </p:cNvSpPr>
          <p:nvPr/>
        </p:nvSpPr>
        <p:spPr>
          <a:xfrm>
            <a:off x="9353550" y="32575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1280×720｜预热 10 </a:t>
            </a:r>
            <a:r>
              <a:rPr sz="1050" b="0" dirty="0" err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次｜连续</a:t>
            </a:r>
            <a:r>
              <a:rPr sz="1050" b="0" dirty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 60 </a:t>
            </a:r>
            <a:r>
              <a:rPr sz="1050" b="0" dirty="0" err="1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次调用</a:t>
            </a:r>
            <a:endParaRPr sz="1050" b="0" dirty="0">
              <a:solidFill>
                <a:srgbClr val="91A7B8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18FCDB4-E302-41C7-997F-A3CAF146BADA}"/>
              </a:ext>
            </a:extLst>
          </p:cNvPr>
          <p:cNvSpPr>
            <a:spLocks noGrp="1"/>
          </p:cNvSpPr>
          <p:nvPr/>
        </p:nvSpPr>
        <p:spPr>
          <a:xfrm>
            <a:off x="4953000" y="4343400"/>
            <a:ext cx="6343650" cy="1695450"/>
          </a:xfrm>
          <a:prstGeom prst="roundRect">
            <a:avLst>
              <a:gd name="adj" fmla="val 6742"/>
            </a:avLst>
          </a:prstGeom>
          <a:solidFill>
            <a:srgbClr val="0A1E31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3A9B70-9FC2-4BC0-A036-45B52F6303EF}"/>
              </a:ext>
            </a:extLst>
          </p:cNvPr>
          <p:cNvSpPr>
            <a:spLocks noGrp="1"/>
          </p:cNvSpPr>
          <p:nvPr/>
        </p:nvSpPr>
        <p:spPr>
          <a:xfrm>
            <a:off x="5181600" y="45529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当前支持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FF8C1FB1-67EB-4785-A290-76914423A7AA}"/>
              </a:ext>
            </a:extLst>
          </p:cNvPr>
          <p:cNvSpPr>
            <a:spLocks noGrp="1"/>
          </p:cNvSpPr>
          <p:nvPr/>
        </p:nvSpPr>
        <p:spPr>
          <a:xfrm>
            <a:off x="5181600" y="493395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7B087A-F1F1-4C90-86F0-17430D5038B4}"/>
              </a:ext>
            </a:extLst>
          </p:cNvPr>
          <p:cNvSpPr>
            <a:spLocks noGrp="1"/>
          </p:cNvSpPr>
          <p:nvPr/>
        </p:nvSpPr>
        <p:spPr>
          <a:xfrm>
            <a:off x="5181600" y="494347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张开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7CA3ACBD-73C0-423C-AC7D-C391BF4DC443}"/>
              </a:ext>
            </a:extLst>
          </p:cNvPr>
          <p:cNvSpPr>
            <a:spLocks noGrp="1"/>
          </p:cNvSpPr>
          <p:nvPr/>
        </p:nvSpPr>
        <p:spPr>
          <a:xfrm>
            <a:off x="6648450" y="493395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AA7396-7415-47CE-97C6-523335F541B2}"/>
              </a:ext>
            </a:extLst>
          </p:cNvPr>
          <p:cNvSpPr>
            <a:spLocks noGrp="1"/>
          </p:cNvSpPr>
          <p:nvPr/>
        </p:nvSpPr>
        <p:spPr>
          <a:xfrm>
            <a:off x="6648450" y="494347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握拳/聚合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2072B09-4B35-46BB-BA4D-A1F76BB4F388}"/>
              </a:ext>
            </a:extLst>
          </p:cNvPr>
          <p:cNvSpPr>
            <a:spLocks noGrp="1"/>
          </p:cNvSpPr>
          <p:nvPr/>
        </p:nvSpPr>
        <p:spPr>
          <a:xfrm>
            <a:off x="8115300" y="493395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E01ED1-7537-414B-BCC4-A6FA10D60DBB}"/>
              </a:ext>
            </a:extLst>
          </p:cNvPr>
          <p:cNvSpPr>
            <a:spLocks noGrp="1"/>
          </p:cNvSpPr>
          <p:nvPr/>
        </p:nvSpPr>
        <p:spPr>
          <a:xfrm>
            <a:off x="8115300" y="494347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OK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ABC3FC7-3391-4506-8D2F-F0E1990437CD}"/>
              </a:ext>
            </a:extLst>
          </p:cNvPr>
          <p:cNvSpPr>
            <a:spLocks noGrp="1"/>
          </p:cNvSpPr>
          <p:nvPr/>
        </p:nvSpPr>
        <p:spPr>
          <a:xfrm>
            <a:off x="9582150" y="493395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744EE80-25BC-426B-98F7-7F31E9AFB960}"/>
              </a:ext>
            </a:extLst>
          </p:cNvPr>
          <p:cNvSpPr>
            <a:spLocks noGrp="1"/>
          </p:cNvSpPr>
          <p:nvPr/>
        </p:nvSpPr>
        <p:spPr>
          <a:xfrm>
            <a:off x="9582150" y="494347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向上指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0FA1813B-F1D5-488C-8A40-BBE7B94D4A97}"/>
              </a:ext>
            </a:extLst>
          </p:cNvPr>
          <p:cNvSpPr>
            <a:spLocks noGrp="1"/>
          </p:cNvSpPr>
          <p:nvPr/>
        </p:nvSpPr>
        <p:spPr>
          <a:xfrm>
            <a:off x="5181600" y="541020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70C924E-FD8F-47B3-B62C-854F289B6C23}"/>
              </a:ext>
            </a:extLst>
          </p:cNvPr>
          <p:cNvSpPr>
            <a:spLocks noGrp="1"/>
          </p:cNvSpPr>
          <p:nvPr/>
        </p:nvSpPr>
        <p:spPr>
          <a:xfrm>
            <a:off x="5181600" y="541972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拇指向上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35351FF-3555-40F1-8EBB-FCE1717035C1}"/>
              </a:ext>
            </a:extLst>
          </p:cNvPr>
          <p:cNvSpPr>
            <a:spLocks noGrp="1"/>
          </p:cNvSpPr>
          <p:nvPr/>
        </p:nvSpPr>
        <p:spPr>
          <a:xfrm>
            <a:off x="6648450" y="541020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43F38ED-01DB-417A-81BB-85D8ED7EEF00}"/>
              </a:ext>
            </a:extLst>
          </p:cNvPr>
          <p:cNvSpPr>
            <a:spLocks noGrp="1"/>
          </p:cNvSpPr>
          <p:nvPr/>
        </p:nvSpPr>
        <p:spPr>
          <a:xfrm>
            <a:off x="6648450" y="541972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拇指向下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1B4B9F85-5124-4D98-85E9-097F670F87D3}"/>
              </a:ext>
            </a:extLst>
          </p:cNvPr>
          <p:cNvSpPr>
            <a:spLocks noGrp="1"/>
          </p:cNvSpPr>
          <p:nvPr/>
        </p:nvSpPr>
        <p:spPr>
          <a:xfrm>
            <a:off x="8115300" y="541020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106FA6-5D91-4CEC-90FA-1DC5C1F65058}"/>
              </a:ext>
            </a:extLst>
          </p:cNvPr>
          <p:cNvSpPr>
            <a:spLocks noGrp="1"/>
          </p:cNvSpPr>
          <p:nvPr/>
        </p:nvSpPr>
        <p:spPr>
          <a:xfrm>
            <a:off x="8115300" y="541972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胜利 / V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441BF61-FB34-4869-9281-2CEE8CFB41B0}"/>
              </a:ext>
            </a:extLst>
          </p:cNvPr>
          <p:cNvSpPr>
            <a:spLocks noGrp="1"/>
          </p:cNvSpPr>
          <p:nvPr/>
        </p:nvSpPr>
        <p:spPr>
          <a:xfrm>
            <a:off x="9582150" y="541020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122B40"/>
          </a:solidFill>
          <a:ln w="9525">
            <a:solidFill>
              <a:srgbClr val="F4F8F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F00775-4C9B-476F-89F5-99ECB08D3B01}"/>
              </a:ext>
            </a:extLst>
          </p:cNvPr>
          <p:cNvSpPr>
            <a:spLocks noGrp="1"/>
          </p:cNvSpPr>
          <p:nvPr/>
        </p:nvSpPr>
        <p:spPr>
          <a:xfrm>
            <a:off x="9582150" y="5419725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我爱你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58040A-E924-46A1-AEEE-C1DBE3EAD47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9F26B5-8E3E-4601-A916-945BF4824255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73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C02835F0-7843-4F6B-AF43-2669D93B67B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B456FBC-5103-4433-8A1A-62DD377B85C0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技术边界：做到了什么&amp;没做到什么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8689D5-9BFA-4384-BF49-83F6EDBED445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当前更接近受控场景下的静态手势分类器，而不是任意姿态的通用手势理解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151EEB-0E23-479F-AAC5-9287D1B62C38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B4D733F-C9F7-474A-8AAF-E7F2ECCB7EC9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4476750" cy="4591050"/>
          </a:xfrm>
          <a:prstGeom prst="roundRect">
            <a:avLst>
              <a:gd name="adj" fmla="val 2553"/>
            </a:avLst>
          </a:prstGeom>
          <a:solidFill>
            <a:srgbClr val="0A2630"/>
          </a:solidFill>
          <a:ln w="9525">
            <a:solidFill>
              <a:srgbClr val="1A5B59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6EE8A44-0A48-4147-9271-169B5FF72464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113A37"/>
          </a:solidFill>
          <a:ln w="9525">
            <a:solidFill>
              <a:srgbClr val="7EE0A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748D38-E7F0-409B-9D03-26B1FACF93A1}"/>
              </a:ext>
            </a:extLst>
          </p:cNvPr>
          <p:cNvSpPr>
            <a:spLocks noGrp="1"/>
          </p:cNvSpPr>
          <p:nvPr/>
        </p:nvSpPr>
        <p:spPr>
          <a:xfrm>
            <a:off x="781050" y="1628775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432BB8-B180-49E9-A67A-958478F5F4BE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可稳定演示的能力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2636EF6-5D2E-4D50-9E03-55FD2F9F30D5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63CA48-5D7E-43EB-985B-109342FC5AC3}"/>
              </a:ext>
            </a:extLst>
          </p:cNvPr>
          <p:cNvSpPr>
            <a:spLocks noGrp="1"/>
          </p:cNvSpPr>
          <p:nvPr/>
        </p:nvSpPr>
        <p:spPr>
          <a:xfrm>
            <a:off x="990600" y="26098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单帧/视频流静态手势分类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495DE2B-20E0-45E1-8326-D14DF3E8C917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704D29-1D10-4C83-9CE8-B52CF0BC665E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21 点骨架与左右手判断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7620683-8C7D-4D1F-8C02-EF71B7B8E65F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6B7EA6-907E-43E8-9C14-9A3DB0F8C69B}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最多两只手同时检测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3F20AAE-CF18-477F-A7FB-56AB04AA3058}"/>
              </a:ext>
            </a:extLst>
          </p:cNvPr>
          <p:cNvSpPr>
            <a:spLocks noGrp="1"/>
          </p:cNvSpPr>
          <p:nvPr/>
        </p:nvSpPr>
        <p:spPr>
          <a:xfrm>
            <a:off x="800100" y="41719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123143-5599-444D-8D1A-3561A846DB1A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8 类手势与置信度展示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C3B7068-722A-4A4E-A1D5-4391B04389FE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8C7054-B98F-45E4-A76C-470A58BEA6CE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5 帧结果平滑，降低瞬时抖动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2A1F3CD-6A8C-4F5F-A271-8DBC45B36DE6}"/>
              </a:ext>
            </a:extLst>
          </p:cNvPr>
          <p:cNvSpPr>
            <a:spLocks noGrp="1"/>
          </p:cNvSpPr>
          <p:nvPr/>
        </p:nvSpPr>
        <p:spPr>
          <a:xfrm>
            <a:off x="800100" y="5162550"/>
            <a:ext cx="76200" cy="76200"/>
          </a:xfrm>
          <a:prstGeom prst="ellipse">
            <a:avLst/>
          </a:prstGeom>
          <a:solidFill>
            <a:srgbClr val="7EE0A3"/>
          </a:solidFill>
          <a:ln w="0">
            <a:solidFill>
              <a:srgbClr val="7EE0A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427534-6F2D-491B-B1D5-9B2766693916}"/>
              </a:ext>
            </a:extLst>
          </p:cNvPr>
          <p:cNvSpPr>
            <a:spLocks noGrp="1"/>
          </p:cNvSpPr>
          <p:nvPr/>
        </p:nvSpPr>
        <p:spPr>
          <a:xfrm>
            <a:off x="990600" y="5086350"/>
            <a:ext cx="3638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模型与画面均在本地浏览器处理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6D11718D-1584-436D-9C37-CEFA3133557C}"/>
              </a:ext>
            </a:extLst>
          </p:cNvPr>
          <p:cNvSpPr>
            <a:spLocks noGrp="1"/>
          </p:cNvSpPr>
          <p:nvPr/>
        </p:nvSpPr>
        <p:spPr>
          <a:xfrm>
            <a:off x="5276850" y="1390650"/>
            <a:ext cx="6362700" cy="4591050"/>
          </a:xfrm>
          <a:prstGeom prst="roundRect">
            <a:avLst>
              <a:gd name="adj" fmla="val 2490"/>
            </a:avLst>
          </a:prstGeom>
          <a:solidFill>
            <a:srgbClr val="281C22"/>
          </a:solidFill>
          <a:ln w="9525">
            <a:solidFill>
              <a:srgbClr val="713C44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20A8510-9108-4E2F-9069-EC3A75ABFDC3}"/>
              </a:ext>
            </a:extLst>
          </p:cNvPr>
          <p:cNvSpPr>
            <a:spLocks noGrp="1"/>
          </p:cNvSpPr>
          <p:nvPr/>
        </p:nvSpPr>
        <p:spPr>
          <a:xfrm>
            <a:off x="5505450" y="1619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3A232A"/>
          </a:solidFill>
          <a:ln w="9525">
            <a:solidFill>
              <a:srgbClr val="FF7D7D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198F79-F0E1-4F3F-9A06-D2CF6685EAC9}"/>
              </a:ext>
            </a:extLst>
          </p:cNvPr>
          <p:cNvSpPr>
            <a:spLocks noGrp="1"/>
          </p:cNvSpPr>
          <p:nvPr/>
        </p:nvSpPr>
        <p:spPr>
          <a:xfrm>
            <a:off x="5505450" y="16287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F7D7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7D7D"/>
                </a:solidFill>
                <a:latin typeface="PingFang SC"/>
                <a:ea typeface="PingFang SC"/>
                <a:cs typeface="PingFang SC"/>
              </a:rPr>
              <a:t>尚未完成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18A841-AF56-476C-9BD7-F1A485CF22BE}"/>
              </a:ext>
            </a:extLst>
          </p:cNvPr>
          <p:cNvSpPr>
            <a:spLocks noGrp="1"/>
          </p:cNvSpPr>
          <p:nvPr/>
        </p:nvSpPr>
        <p:spPr>
          <a:xfrm>
            <a:off x="5505450" y="20574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当前风险与缺口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8C37F5A-CC8E-4BCD-B3A6-EB6AEFEA4326}"/>
              </a:ext>
            </a:extLst>
          </p:cNvPr>
          <p:cNvSpPr>
            <a:spLocks noGrp="1"/>
          </p:cNvSpPr>
          <p:nvPr/>
        </p:nvSpPr>
        <p:spPr>
          <a:xfrm>
            <a:off x="5524500" y="25717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C673DB-2747-4754-9F1B-A645949ECB9A}"/>
              </a:ext>
            </a:extLst>
          </p:cNvPr>
          <p:cNvSpPr>
            <a:spLocks noGrp="1"/>
          </p:cNvSpPr>
          <p:nvPr/>
        </p:nvSpPr>
        <p:spPr>
          <a:xfrm>
            <a:off x="5524500" y="25812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姿态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C03449-F3C0-4C08-A1D1-0DA490638DC7}"/>
              </a:ext>
            </a:extLst>
          </p:cNvPr>
          <p:cNvSpPr>
            <a:spLocks noGrp="1"/>
          </p:cNvSpPr>
          <p:nvPr/>
        </p:nvSpPr>
        <p:spPr>
          <a:xfrm>
            <a:off x="6229350" y="25527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正反面切换、极端旋转/大角度时稳定性不足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7EC60D8-0C04-4ABF-8917-F326E42D3B4B}"/>
              </a:ext>
            </a:extLst>
          </p:cNvPr>
          <p:cNvSpPr>
            <a:spLocks noGrp="1"/>
          </p:cNvSpPr>
          <p:nvPr/>
        </p:nvSpPr>
        <p:spPr>
          <a:xfrm>
            <a:off x="5524500" y="30670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5656CB-A438-4DA5-88AB-3BA676A2902E}"/>
              </a:ext>
            </a:extLst>
          </p:cNvPr>
          <p:cNvSpPr>
            <a:spLocks noGrp="1"/>
          </p:cNvSpPr>
          <p:nvPr/>
        </p:nvSpPr>
        <p:spPr>
          <a:xfrm>
            <a:off x="5524500" y="30765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手数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ECC576-E8B4-4F02-887E-71172D1E70E4}"/>
              </a:ext>
            </a:extLst>
          </p:cNvPr>
          <p:cNvSpPr>
            <a:spLocks noGrp="1"/>
          </p:cNvSpPr>
          <p:nvPr/>
        </p:nvSpPr>
        <p:spPr>
          <a:xfrm>
            <a:off x="6229350" y="30480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当前配置最多 2 只手，两只以上未支持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CE86EAD5-A46C-47CD-A6A5-75A9753DD378}"/>
              </a:ext>
            </a:extLst>
          </p:cNvPr>
          <p:cNvSpPr>
            <a:spLocks noGrp="1"/>
          </p:cNvSpPr>
          <p:nvPr/>
        </p:nvSpPr>
        <p:spPr>
          <a:xfrm>
            <a:off x="5524500" y="35623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4B4D50-AEC5-472A-AEBE-97B57DB7C5E1}"/>
              </a:ext>
            </a:extLst>
          </p:cNvPr>
          <p:cNvSpPr>
            <a:spLocks noGrp="1"/>
          </p:cNvSpPr>
          <p:nvPr/>
        </p:nvSpPr>
        <p:spPr>
          <a:xfrm>
            <a:off x="5524500" y="35718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F5742EF-7BE5-4FA5-8207-DFD5CD01E3BD}"/>
              </a:ext>
            </a:extLst>
          </p:cNvPr>
          <p:cNvSpPr>
            <a:spLocks noGrp="1"/>
          </p:cNvSpPr>
          <p:nvPr/>
        </p:nvSpPr>
        <p:spPr>
          <a:xfrm>
            <a:off x="6229350" y="35433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未定义朝上/下/左/右；“向上指”仅是类别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BC80DBD0-2F25-4E15-ADF2-8CA5EA0B3C8A}"/>
              </a:ext>
            </a:extLst>
          </p:cNvPr>
          <p:cNvSpPr>
            <a:spLocks noGrp="1"/>
          </p:cNvSpPr>
          <p:nvPr/>
        </p:nvSpPr>
        <p:spPr>
          <a:xfrm>
            <a:off x="5524500" y="40576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CC787B5-2489-42E7-8E06-C48787E5365C}"/>
              </a:ext>
            </a:extLst>
          </p:cNvPr>
          <p:cNvSpPr>
            <a:spLocks noGrp="1"/>
          </p:cNvSpPr>
          <p:nvPr/>
        </p:nvSpPr>
        <p:spPr>
          <a:xfrm>
            <a:off x="5524500" y="40671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动态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A91A43-77FF-454C-901D-15EAA6733AE6}"/>
              </a:ext>
            </a:extLst>
          </p:cNvPr>
          <p:cNvSpPr>
            <a:spLocks noGrp="1"/>
          </p:cNvSpPr>
          <p:nvPr/>
        </p:nvSpPr>
        <p:spPr>
          <a:xfrm>
            <a:off x="6229350" y="40386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未识别挥手、滑动、旋转等时间轨迹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A69F8662-848F-4988-AD52-C489DAE0FDC7}"/>
              </a:ext>
            </a:extLst>
          </p:cNvPr>
          <p:cNvSpPr>
            <a:spLocks noGrp="1"/>
          </p:cNvSpPr>
          <p:nvPr/>
        </p:nvSpPr>
        <p:spPr>
          <a:xfrm>
            <a:off x="5524500" y="45529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7F471E1-DB3A-47C4-8DCF-ACE0540ECEE8}"/>
              </a:ext>
            </a:extLst>
          </p:cNvPr>
          <p:cNvSpPr>
            <a:spLocks noGrp="1"/>
          </p:cNvSpPr>
          <p:nvPr/>
        </p:nvSpPr>
        <p:spPr>
          <a:xfrm>
            <a:off x="5524500" y="45624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组合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012F0A-BE38-454F-9108-2CD24DD9558E}"/>
              </a:ext>
            </a:extLst>
          </p:cNvPr>
          <p:cNvSpPr>
            <a:spLocks noGrp="1"/>
          </p:cNvSpPr>
          <p:nvPr/>
        </p:nvSpPr>
        <p:spPr>
          <a:xfrm>
            <a:off x="6229350" y="45339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未实现双手组合语义与动作编排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2C36B37-18A9-4265-9EB1-9048114160B8}"/>
              </a:ext>
            </a:extLst>
          </p:cNvPr>
          <p:cNvSpPr>
            <a:spLocks noGrp="1"/>
          </p:cNvSpPr>
          <p:nvPr/>
        </p:nvSpPr>
        <p:spPr>
          <a:xfrm>
            <a:off x="5524500" y="5048250"/>
            <a:ext cx="552450" cy="285750"/>
          </a:xfrm>
          <a:prstGeom prst="roundRect">
            <a:avLst>
              <a:gd name="adj" fmla="val 50000"/>
            </a:avLst>
          </a:prstGeom>
          <a:solidFill>
            <a:srgbClr val="382D2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B92F38A-7FFB-4CE4-B786-F72D046B9818}"/>
              </a:ext>
            </a:extLst>
          </p:cNvPr>
          <p:cNvSpPr>
            <a:spLocks noGrp="1"/>
          </p:cNvSpPr>
          <p:nvPr/>
        </p:nvSpPr>
        <p:spPr>
          <a:xfrm>
            <a:off x="5524500" y="505777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环境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8C244B0-9F2F-452A-9453-D435E87602D7}"/>
              </a:ext>
            </a:extLst>
          </p:cNvPr>
          <p:cNvSpPr>
            <a:spLocks noGrp="1"/>
          </p:cNvSpPr>
          <p:nvPr/>
        </p:nvSpPr>
        <p:spPr>
          <a:xfrm>
            <a:off x="6229350" y="5029200"/>
            <a:ext cx="5010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遮挡、弱光、运动模糊尚未系统验证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81DCBF6-C278-4D3F-9C7B-0437362ECC8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4CE17F-F5E0-43E6-A84B-5C4138C7F2B4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645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25E3D4AE-35B3-4164-964B-5A2CC61FC60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5E371D-C12A-4565-9038-E160274B5395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三类交互逻辑，承载四种手势输入方式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3C6E1A-11D4-40F3-89AC-2BB93C93E28A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先看谁发起，再比较响应速度、资源占用、误触发与应用场景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A18A21-6454-4812-94EF-BE6C43B5EB7F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9285643-7CD4-4E0C-9493-59C28C8DA823}"/>
              </a:ext>
            </a:extLst>
          </p:cNvPr>
          <p:cNvSpPr>
            <a:spLocks noGrp="1"/>
          </p:cNvSpPr>
          <p:nvPr/>
        </p:nvSpPr>
        <p:spPr>
          <a:xfrm>
            <a:off x="552450" y="1371600"/>
            <a:ext cx="1828800" cy="419100"/>
          </a:xfrm>
          <a:prstGeom prst="roundRect">
            <a:avLst>
              <a:gd name="adj" fmla="val 18182"/>
            </a:avLst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C5E516-37B8-41D1-A43A-C73C0E6C829F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类别 / 方式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881FE1-A3F1-4F4B-AD8A-DAF350AFC04A}"/>
              </a:ext>
            </a:extLst>
          </p:cNvPr>
          <p:cNvSpPr>
            <a:spLocks noGrp="1"/>
          </p:cNvSpPr>
          <p:nvPr/>
        </p:nvSpPr>
        <p:spPr>
          <a:xfrm>
            <a:off x="2476500" y="1371600"/>
            <a:ext cx="2114550" cy="41910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A21FED-6898-47E5-9C23-6D5E6B969BA3}"/>
              </a:ext>
            </a:extLst>
          </p:cNvPr>
          <p:cNvSpPr>
            <a:spLocks noGrp="1"/>
          </p:cNvSpPr>
          <p:nvPr/>
        </p:nvSpPr>
        <p:spPr>
          <a:xfrm>
            <a:off x="2571750" y="14287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怎么触发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938CC2-5D71-40EC-8794-1FA7A6912473}"/>
              </a:ext>
            </a:extLst>
          </p:cNvPr>
          <p:cNvSpPr>
            <a:spLocks noGrp="1"/>
          </p:cNvSpPr>
          <p:nvPr/>
        </p:nvSpPr>
        <p:spPr>
          <a:xfrm>
            <a:off x="4686300" y="1371600"/>
            <a:ext cx="2305050" cy="41910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D27D99-78A6-4C95-9DF2-E6A147929E49}"/>
              </a:ext>
            </a:extLst>
          </p:cNvPr>
          <p:cNvSpPr>
            <a:spLocks noGrp="1"/>
          </p:cNvSpPr>
          <p:nvPr/>
        </p:nvSpPr>
        <p:spPr>
          <a:xfrm>
            <a:off x="4781550" y="142875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优势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25680C-5EDD-4264-B6F8-91AA10FCFF37}"/>
              </a:ext>
            </a:extLst>
          </p:cNvPr>
          <p:cNvSpPr>
            <a:spLocks noGrp="1"/>
          </p:cNvSpPr>
          <p:nvPr/>
        </p:nvSpPr>
        <p:spPr>
          <a:xfrm>
            <a:off x="7086600" y="1371600"/>
            <a:ext cx="2362200" cy="41910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E85DCB-6900-425E-8A1E-934BC3B09AB6}"/>
              </a:ext>
            </a:extLst>
          </p:cNvPr>
          <p:cNvSpPr>
            <a:spLocks noGrp="1"/>
          </p:cNvSpPr>
          <p:nvPr/>
        </p:nvSpPr>
        <p:spPr>
          <a:xfrm>
            <a:off x="7181850" y="1428750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主要风险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7AB52B-F0BE-4937-945E-DF422446C411}"/>
              </a:ext>
            </a:extLst>
          </p:cNvPr>
          <p:cNvSpPr>
            <a:spLocks noGrp="1"/>
          </p:cNvSpPr>
          <p:nvPr/>
        </p:nvSpPr>
        <p:spPr>
          <a:xfrm>
            <a:off x="9544050" y="1371600"/>
            <a:ext cx="2095500" cy="41910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800AAA-0916-4EA4-95A2-05FCA72D8496}"/>
              </a:ext>
            </a:extLst>
          </p:cNvPr>
          <p:cNvSpPr>
            <a:spLocks noGrp="1"/>
          </p:cNvSpPr>
          <p:nvPr/>
        </p:nvSpPr>
        <p:spPr>
          <a:xfrm>
            <a:off x="9639300" y="14287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可能应用场景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DAD91D-60B7-441B-BEAF-0FAD89DAD1C9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18288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4E493C-BBD1-41C6-A499-18491552F9DF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被动响应型</a:t>
            </a:r>
          </a:p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单次触发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C68AFE-B601-4A59-A29C-95C91CE09C1E}"/>
              </a:ext>
            </a:extLst>
          </p:cNvPr>
          <p:cNvSpPr>
            <a:spLocks noGrp="1"/>
          </p:cNvSpPr>
          <p:nvPr/>
        </p:nvSpPr>
        <p:spPr>
          <a:xfrm>
            <a:off x="2476500" y="1866900"/>
            <a:ext cx="211455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D6C9AB5-81E2-40D1-9991-D4E2614AB01F}"/>
              </a:ext>
            </a:extLst>
          </p:cNvPr>
          <p:cNvSpPr>
            <a:spLocks noGrp="1"/>
          </p:cNvSpPr>
          <p:nvPr/>
        </p:nvSpPr>
        <p:spPr>
          <a:xfrm>
            <a:off x="2590800" y="1962150"/>
            <a:ext cx="1885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电脑 / AI 发起请求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用户做一次手势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DFF6E4-8901-4929-ADDF-A71AA70AF1B0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30505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B7367E-4373-4C97-A850-DB2F41198206}"/>
              </a:ext>
            </a:extLst>
          </p:cNvPr>
          <p:cNvSpPr>
            <a:spLocks noGrp="1"/>
          </p:cNvSpPr>
          <p:nvPr/>
        </p:nvSpPr>
        <p:spPr>
          <a:xfrm>
            <a:off x="4800600" y="1962150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意图明确、资源最低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1A7993-6552-48CE-BB44-922B17EBE0FE}"/>
              </a:ext>
            </a:extLst>
          </p:cNvPr>
          <p:cNvSpPr>
            <a:spLocks noGrp="1"/>
          </p:cNvSpPr>
          <p:nvPr/>
        </p:nvSpPr>
        <p:spPr>
          <a:xfrm>
            <a:off x="7086600" y="1866900"/>
            <a:ext cx="23622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64346F-6539-49E1-99DB-24A2A2BF3468}"/>
              </a:ext>
            </a:extLst>
          </p:cNvPr>
          <p:cNvSpPr>
            <a:spLocks noGrp="1"/>
          </p:cNvSpPr>
          <p:nvPr/>
        </p:nvSpPr>
        <p:spPr>
          <a:xfrm>
            <a:off x="7200900" y="1962150"/>
            <a:ext cx="2133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只能回答当前请求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34FA42-DA86-4303-B1FB-FEDE5DB5CAF9}"/>
              </a:ext>
            </a:extLst>
          </p:cNvPr>
          <p:cNvSpPr>
            <a:spLocks noGrp="1"/>
          </p:cNvSpPr>
          <p:nvPr/>
        </p:nvSpPr>
        <p:spPr>
          <a:xfrm>
            <a:off x="9544050" y="1866900"/>
            <a:ext cx="20955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C3556C2-051C-446A-A804-BD00ADDC0018}"/>
              </a:ext>
            </a:extLst>
          </p:cNvPr>
          <p:cNvSpPr>
            <a:spLocks noGrp="1"/>
          </p:cNvSpPr>
          <p:nvPr/>
        </p:nvSpPr>
        <p:spPr>
          <a:xfrm>
            <a:off x="9658350" y="19621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AI“确认 / 取消”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授权或执行前确认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407989-00DE-4E45-A260-923E2559080E}"/>
              </a:ext>
            </a:extLst>
          </p:cNvPr>
          <p:cNvSpPr>
            <a:spLocks noGrp="1"/>
          </p:cNvSpPr>
          <p:nvPr/>
        </p:nvSpPr>
        <p:spPr>
          <a:xfrm>
            <a:off x="552450" y="4620606"/>
            <a:ext cx="1828800" cy="83820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980AD2-E28B-4B48-BB65-813B0A71EF7B}"/>
              </a:ext>
            </a:extLst>
          </p:cNvPr>
          <p:cNvSpPr>
            <a:spLocks noGrp="1"/>
          </p:cNvSpPr>
          <p:nvPr/>
        </p:nvSpPr>
        <p:spPr>
          <a:xfrm>
            <a:off x="666750" y="4715856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持续监听型</a:t>
            </a:r>
          </a:p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实时检测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24E89C-0AB9-457D-9C27-87E8A4300EB2}"/>
              </a:ext>
            </a:extLst>
          </p:cNvPr>
          <p:cNvSpPr>
            <a:spLocks noGrp="1"/>
          </p:cNvSpPr>
          <p:nvPr/>
        </p:nvSpPr>
        <p:spPr>
          <a:xfrm>
            <a:off x="2476500" y="4620606"/>
            <a:ext cx="2114550" cy="83820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7219FA-29C6-4DB7-8D44-3179149A4093}"/>
              </a:ext>
            </a:extLst>
          </p:cNvPr>
          <p:cNvSpPr>
            <a:spLocks noGrp="1"/>
          </p:cNvSpPr>
          <p:nvPr/>
        </p:nvSpPr>
        <p:spPr>
          <a:xfrm>
            <a:off x="2590800" y="4715856"/>
            <a:ext cx="1885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摄像头持续监听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连续输出手势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7FE6EF-A165-4018-A9E5-C0F1562CB65F}"/>
              </a:ext>
            </a:extLst>
          </p:cNvPr>
          <p:cNvSpPr>
            <a:spLocks noGrp="1"/>
          </p:cNvSpPr>
          <p:nvPr/>
        </p:nvSpPr>
        <p:spPr>
          <a:xfrm>
            <a:off x="4686300" y="4620606"/>
            <a:ext cx="2305050" cy="83820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E526EDD-DE58-4DC5-AFE8-ABBB5FDE5D3C}"/>
              </a:ext>
            </a:extLst>
          </p:cNvPr>
          <p:cNvSpPr>
            <a:spLocks noGrp="1"/>
          </p:cNvSpPr>
          <p:nvPr/>
        </p:nvSpPr>
        <p:spPr>
          <a:xfrm>
            <a:off x="4800600" y="4715856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响应最快、支持连续操作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ED29AD-D394-4640-A317-6FAA5718275F}"/>
              </a:ext>
            </a:extLst>
          </p:cNvPr>
          <p:cNvSpPr>
            <a:spLocks noGrp="1"/>
          </p:cNvSpPr>
          <p:nvPr/>
        </p:nvSpPr>
        <p:spPr>
          <a:xfrm>
            <a:off x="7086600" y="4620606"/>
            <a:ext cx="2362200" cy="83820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D804F2-6660-43CD-8463-8FB44F31A557}"/>
              </a:ext>
            </a:extLst>
          </p:cNvPr>
          <p:cNvSpPr>
            <a:spLocks noGrp="1"/>
          </p:cNvSpPr>
          <p:nvPr/>
        </p:nvSpPr>
        <p:spPr>
          <a:xfrm>
            <a:off x="7200900" y="4715856"/>
            <a:ext cx="2133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资源与误触发风险最高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0AC0F94-774F-4177-A0F2-62D777067A70}"/>
              </a:ext>
            </a:extLst>
          </p:cNvPr>
          <p:cNvSpPr>
            <a:spLocks noGrp="1"/>
          </p:cNvSpPr>
          <p:nvPr/>
        </p:nvSpPr>
        <p:spPr>
          <a:xfrm>
            <a:off x="9544050" y="4620606"/>
            <a:ext cx="2095500" cy="83820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65844B-B38B-4685-86C3-65C456960127}"/>
              </a:ext>
            </a:extLst>
          </p:cNvPr>
          <p:cNvSpPr>
            <a:spLocks noGrp="1"/>
          </p:cNvSpPr>
          <p:nvPr/>
        </p:nvSpPr>
        <p:spPr>
          <a:xfrm>
            <a:off x="9658350" y="4715856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连续翻页 / 媒体控制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无障碍连续交互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0EB2CAC-A738-4AE1-996E-8A468CDD9C29}"/>
              </a:ext>
            </a:extLst>
          </p:cNvPr>
          <p:cNvSpPr>
            <a:spLocks noGrp="1"/>
          </p:cNvSpPr>
          <p:nvPr/>
        </p:nvSpPr>
        <p:spPr>
          <a:xfrm>
            <a:off x="552450" y="5676900"/>
            <a:ext cx="11087100" cy="533400"/>
          </a:xfrm>
          <a:prstGeom prst="roundRect">
            <a:avLst>
              <a:gd name="adj" fmla="val 14286"/>
            </a:avLst>
          </a:prstGeom>
          <a:solidFill>
            <a:srgbClr val="102B38"/>
          </a:solidFill>
          <a:ln w="9525">
            <a:solidFill>
              <a:srgbClr val="2A686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561F0A-8027-4A5B-A712-F039423AAB32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10648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 err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建议：默认用被动响应型处理确认任务；用户唤醒型负责主动控制；持续监听型只用于明确需要连续操作的场景</a:t>
            </a:r>
            <a:r>
              <a:rPr sz="1350" b="1" dirty="0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06CCA52-2083-4E64-9A28-C3E2C500E39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CBCC890-5AAD-4538-A889-6C354D2B2FCF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50477DE-567E-8A7E-3D80-A7EFD3662023}"/>
              </a:ext>
            </a:extLst>
          </p:cNvPr>
          <p:cNvSpPr>
            <a:spLocks noGrp="1"/>
          </p:cNvSpPr>
          <p:nvPr/>
        </p:nvSpPr>
        <p:spPr>
          <a:xfrm>
            <a:off x="552450" y="2781305"/>
            <a:ext cx="18288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1F34993-13A6-FF98-600C-008AC8237FBA}"/>
              </a:ext>
            </a:extLst>
          </p:cNvPr>
          <p:cNvSpPr>
            <a:spLocks noGrp="1"/>
          </p:cNvSpPr>
          <p:nvPr/>
        </p:nvSpPr>
        <p:spPr>
          <a:xfrm>
            <a:off x="666750" y="2876555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主动</a:t>
            </a:r>
            <a:r>
              <a:rPr sz="1350" b="1" dirty="0" err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唤醒型</a:t>
            </a:r>
            <a:endParaRPr sz="1350" b="1" dirty="0">
              <a:solidFill>
                <a:srgbClr val="64E1C3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05000"/>
              </a:lnSpc>
              <a:buNone/>
              <a:defRPr sz="13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 err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文字</a:t>
            </a:r>
            <a:r>
              <a:rPr sz="13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350" b="1" dirty="0" err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按钮</a:t>
            </a:r>
            <a:endParaRPr sz="1350" b="1" dirty="0">
              <a:solidFill>
                <a:srgbClr val="64E1C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82E7AD2-2E18-8EF4-EB02-CF4AF9640F11}"/>
              </a:ext>
            </a:extLst>
          </p:cNvPr>
          <p:cNvSpPr>
            <a:spLocks noGrp="1"/>
          </p:cNvSpPr>
          <p:nvPr/>
        </p:nvSpPr>
        <p:spPr>
          <a:xfrm>
            <a:off x="2476500" y="2781305"/>
            <a:ext cx="211455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162302C-70D3-241C-7033-77167EFF05A7}"/>
              </a:ext>
            </a:extLst>
          </p:cNvPr>
          <p:cNvSpPr>
            <a:spLocks noGrp="1"/>
          </p:cNvSpPr>
          <p:nvPr/>
        </p:nvSpPr>
        <p:spPr>
          <a:xfrm>
            <a:off x="2590800" y="2876555"/>
            <a:ext cx="1885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用户明确开启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一段手势会话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91570E6-526B-B6C8-48B0-EE597102F5E6}"/>
              </a:ext>
            </a:extLst>
          </p:cNvPr>
          <p:cNvSpPr>
            <a:spLocks noGrp="1"/>
          </p:cNvSpPr>
          <p:nvPr/>
        </p:nvSpPr>
        <p:spPr>
          <a:xfrm>
            <a:off x="4686300" y="2781305"/>
            <a:ext cx="230505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96E2599-D6D9-C16E-D325-950F4581DAF0}"/>
              </a:ext>
            </a:extLst>
          </p:cNvPr>
          <p:cNvSpPr>
            <a:spLocks noGrp="1"/>
          </p:cNvSpPr>
          <p:nvPr/>
        </p:nvSpPr>
        <p:spPr>
          <a:xfrm>
            <a:off x="4800600" y="287655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意图清楚、隐私友好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4EBEB48-D459-47DB-6B8F-F9B516D82B16}"/>
              </a:ext>
            </a:extLst>
          </p:cNvPr>
          <p:cNvSpPr>
            <a:spLocks noGrp="1"/>
          </p:cNvSpPr>
          <p:nvPr/>
        </p:nvSpPr>
        <p:spPr>
          <a:xfrm>
            <a:off x="7086600" y="2781305"/>
            <a:ext cx="23622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F37B256-E80E-1D05-F8E7-146245EAD155}"/>
              </a:ext>
            </a:extLst>
          </p:cNvPr>
          <p:cNvSpPr>
            <a:spLocks noGrp="1"/>
          </p:cNvSpPr>
          <p:nvPr/>
        </p:nvSpPr>
        <p:spPr>
          <a:xfrm>
            <a:off x="7200900" y="2876555"/>
            <a:ext cx="2133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需要额外一次操作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0E56258-6405-695B-B3AC-915A1C53B78F}"/>
              </a:ext>
            </a:extLst>
          </p:cNvPr>
          <p:cNvSpPr>
            <a:spLocks noGrp="1"/>
          </p:cNvSpPr>
          <p:nvPr/>
        </p:nvSpPr>
        <p:spPr>
          <a:xfrm>
            <a:off x="9544050" y="2781305"/>
            <a:ext cx="2095500" cy="83820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DA5F97D-0D74-7103-8120-E364DE67761E}"/>
              </a:ext>
            </a:extLst>
          </p:cNvPr>
          <p:cNvSpPr>
            <a:spLocks noGrp="1"/>
          </p:cNvSpPr>
          <p:nvPr/>
        </p:nvSpPr>
        <p:spPr>
          <a:xfrm>
            <a:off x="9658350" y="2876555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办公 / 会议助手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明确开启控制会话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85DDFFD-F214-04A3-9C96-914575E48111}"/>
              </a:ext>
            </a:extLst>
          </p:cNvPr>
          <p:cNvSpPr>
            <a:spLocks noGrp="1"/>
          </p:cNvSpPr>
          <p:nvPr/>
        </p:nvSpPr>
        <p:spPr>
          <a:xfrm>
            <a:off x="552450" y="3695705"/>
            <a:ext cx="1828800" cy="838200"/>
          </a:xfrm>
          <a:prstGeom prst="rect">
            <a:avLst/>
          </a:prstGeom>
          <a:solidFill>
            <a:srgbClr val="0B2B34"/>
          </a:solidFill>
          <a:ln w="9525">
            <a:solidFill>
              <a:srgbClr val="2A6C68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BB4479D-CD52-92EA-B05E-2C75C5853422}"/>
              </a:ext>
            </a:extLst>
          </p:cNvPr>
          <p:cNvSpPr>
            <a:spLocks noGrp="1"/>
          </p:cNvSpPr>
          <p:nvPr/>
        </p:nvSpPr>
        <p:spPr>
          <a:xfrm>
            <a:off x="666750" y="3790955"/>
            <a:ext cx="1600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3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主动</a:t>
            </a:r>
            <a:r>
              <a:rPr sz="1350" b="1" dirty="0" err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唤醒型</a:t>
            </a:r>
            <a:endParaRPr sz="1350" b="1" dirty="0">
              <a:solidFill>
                <a:srgbClr val="64E1C3"/>
              </a:solidFill>
              <a:latin typeface="PingFang SC"/>
              <a:ea typeface="PingFang SC"/>
              <a:cs typeface="PingFang SC"/>
            </a:endParaRPr>
          </a:p>
          <a:p>
            <a:pPr algn="l">
              <a:lnSpc>
                <a:spcPct val="105000"/>
              </a:lnSpc>
              <a:buNone/>
              <a:defRPr sz="13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Thumb Up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CFD4253-7EE9-14E9-B0BC-F69A965F2568}"/>
              </a:ext>
            </a:extLst>
          </p:cNvPr>
          <p:cNvSpPr>
            <a:spLocks noGrp="1"/>
          </p:cNvSpPr>
          <p:nvPr/>
        </p:nvSpPr>
        <p:spPr>
          <a:xfrm>
            <a:off x="2476500" y="3695705"/>
            <a:ext cx="2114550" cy="838200"/>
          </a:xfrm>
          <a:prstGeom prst="rect">
            <a:avLst/>
          </a:prstGeom>
          <a:solidFill>
            <a:srgbClr val="0B2B34"/>
          </a:solidFill>
          <a:ln w="9525">
            <a:solidFill>
              <a:srgbClr val="2A6C68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323806E-210D-34FA-0EAD-9C868FA8D36C}"/>
              </a:ext>
            </a:extLst>
          </p:cNvPr>
          <p:cNvSpPr>
            <a:spLocks noGrp="1"/>
          </p:cNvSpPr>
          <p:nvPr/>
        </p:nvSpPr>
        <p:spPr>
          <a:xfrm>
            <a:off x="2590800" y="3790955"/>
            <a:ext cx="1885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低频检测 Thumb Up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唤醒后切换实时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22AB731-D359-2F32-9E02-6C7F9CE542AD}"/>
              </a:ext>
            </a:extLst>
          </p:cNvPr>
          <p:cNvSpPr>
            <a:spLocks noGrp="1"/>
          </p:cNvSpPr>
          <p:nvPr/>
        </p:nvSpPr>
        <p:spPr>
          <a:xfrm>
            <a:off x="4686300" y="3695705"/>
            <a:ext cx="2305050" cy="838200"/>
          </a:xfrm>
          <a:prstGeom prst="rect">
            <a:avLst/>
          </a:prstGeom>
          <a:solidFill>
            <a:srgbClr val="0B2B34"/>
          </a:solidFill>
          <a:ln w="9525">
            <a:solidFill>
              <a:srgbClr val="2A6C68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9B3450A-8307-D24C-7544-25AB62C74418}"/>
              </a:ext>
            </a:extLst>
          </p:cNvPr>
          <p:cNvSpPr>
            <a:spLocks noGrp="1"/>
          </p:cNvSpPr>
          <p:nvPr/>
        </p:nvSpPr>
        <p:spPr>
          <a:xfrm>
            <a:off x="4800600" y="3790955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兼顾响应速度与资源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A92BB0-596A-8515-E49C-DD27EDA3EE87}"/>
              </a:ext>
            </a:extLst>
          </p:cNvPr>
          <p:cNvSpPr>
            <a:spLocks noGrp="1"/>
          </p:cNvSpPr>
          <p:nvPr/>
        </p:nvSpPr>
        <p:spPr>
          <a:xfrm>
            <a:off x="7086600" y="3695705"/>
            <a:ext cx="2362200" cy="838200"/>
          </a:xfrm>
          <a:prstGeom prst="rect">
            <a:avLst/>
          </a:prstGeom>
          <a:solidFill>
            <a:srgbClr val="0B2B34"/>
          </a:solidFill>
          <a:ln w="9525">
            <a:solidFill>
              <a:srgbClr val="2A6C68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68735B1-856D-B44D-618B-CB9EBD3FB980}"/>
              </a:ext>
            </a:extLst>
          </p:cNvPr>
          <p:cNvSpPr>
            <a:spLocks noGrp="1"/>
          </p:cNvSpPr>
          <p:nvPr/>
        </p:nvSpPr>
        <p:spPr>
          <a:xfrm>
            <a:off x="7200900" y="3790955"/>
            <a:ext cx="2133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存在唤醒误触发风险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67CA2C2-A8AD-8C42-F5A2-6DA3106D08DA}"/>
              </a:ext>
            </a:extLst>
          </p:cNvPr>
          <p:cNvSpPr>
            <a:spLocks noGrp="1"/>
          </p:cNvSpPr>
          <p:nvPr/>
        </p:nvSpPr>
        <p:spPr>
          <a:xfrm>
            <a:off x="9544050" y="3695705"/>
            <a:ext cx="2095500" cy="838200"/>
          </a:xfrm>
          <a:prstGeom prst="rect">
            <a:avLst/>
          </a:prstGeom>
          <a:solidFill>
            <a:srgbClr val="0B2B34"/>
          </a:solidFill>
          <a:ln w="9525">
            <a:solidFill>
              <a:srgbClr val="2A6C68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D88A7CC-1CF1-6C04-4DC9-A5C97D22563F}"/>
              </a:ext>
            </a:extLst>
          </p:cNvPr>
          <p:cNvSpPr>
            <a:spLocks noGrp="1"/>
          </p:cNvSpPr>
          <p:nvPr/>
        </p:nvSpPr>
        <p:spPr>
          <a:xfrm>
            <a:off x="9658350" y="3790955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远距无接触唤醒</a:t>
            </a:r>
          </a:p>
          <a:p>
            <a:pPr algn="ctr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演示 / 快捷控制</a:t>
            </a:r>
          </a:p>
        </p:txBody>
      </p:sp>
    </p:spTree>
    <p:extLst>
      <p:ext uri="{BB962C8B-B14F-4D97-AF65-F5344CB8AC3E}">
        <p14:creationId xmlns:p14="http://schemas.microsoft.com/office/powerpoint/2010/main" val="15612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52AD3B98-E8E1-4BCA-A791-453D201E139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altLang="zh-CN" sz="10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6</a:t>
            </a:r>
            <a:endParaRPr sz="1050" b="1" dirty="0">
              <a:solidFill>
                <a:srgbClr val="64E1C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CA961B-958B-4CED-8287-6298A5A03EE5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工程落地难点：算法只是第一层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9418CA-7E35-4CA7-8E40-2FE4477C1D0A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稳定性、资源、安全和可恢复性共同决定是否能长期使用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A568A2-BC45-4BE2-92DE-378CB4F2AE06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310B30-CD38-4C3B-884C-816590D08C4D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2609850" cy="43815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1EC7CD-2E21-4F31-B5FE-1CF636E9D512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难点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E47A2A-37BE-4D8E-84F1-C41F82F939C9}"/>
              </a:ext>
            </a:extLst>
          </p:cNvPr>
          <p:cNvSpPr>
            <a:spLocks noGrp="1"/>
          </p:cNvSpPr>
          <p:nvPr/>
        </p:nvSpPr>
        <p:spPr>
          <a:xfrm>
            <a:off x="3257550" y="1390650"/>
            <a:ext cx="914400" cy="43815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05AC2F-5186-4A59-97A1-D11E3D49963D}"/>
              </a:ext>
            </a:extLst>
          </p:cNvPr>
          <p:cNvSpPr>
            <a:spLocks noGrp="1"/>
          </p:cNvSpPr>
          <p:nvPr/>
        </p:nvSpPr>
        <p:spPr>
          <a:xfrm>
            <a:off x="3371850" y="14573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难度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94327F-F5EA-4D8D-AD80-F50683D73A05}"/>
              </a:ext>
            </a:extLst>
          </p:cNvPr>
          <p:cNvSpPr>
            <a:spLocks noGrp="1"/>
          </p:cNvSpPr>
          <p:nvPr/>
        </p:nvSpPr>
        <p:spPr>
          <a:xfrm>
            <a:off x="4267200" y="1390650"/>
            <a:ext cx="2971800" cy="43815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AD45CD-0725-496D-AD27-03488B4ECA88}"/>
              </a:ext>
            </a:extLst>
          </p:cNvPr>
          <p:cNvSpPr>
            <a:spLocks noGrp="1"/>
          </p:cNvSpPr>
          <p:nvPr/>
        </p:nvSpPr>
        <p:spPr>
          <a:xfrm>
            <a:off x="4381500" y="1457325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失败表现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469CAB-64F2-46FB-AAAF-9D786F09B3CD}"/>
              </a:ext>
            </a:extLst>
          </p:cNvPr>
          <p:cNvSpPr>
            <a:spLocks noGrp="1"/>
          </p:cNvSpPr>
          <p:nvPr/>
        </p:nvSpPr>
        <p:spPr>
          <a:xfrm>
            <a:off x="7334250" y="1390650"/>
            <a:ext cx="4305300" cy="438150"/>
          </a:xfrm>
          <a:prstGeom prst="rect">
            <a:avLst/>
          </a:prstGeom>
          <a:solidFill>
            <a:srgbClr val="123149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723E65-1C79-4737-9B28-B9B8E7847955}"/>
              </a:ext>
            </a:extLst>
          </p:cNvPr>
          <p:cNvSpPr>
            <a:spLocks noGrp="1"/>
          </p:cNvSpPr>
          <p:nvPr/>
        </p:nvSpPr>
        <p:spPr>
          <a:xfrm>
            <a:off x="7448550" y="1457325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本周验证 / 缓解方案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715537-C467-46E5-88C5-A91E9C178237}"/>
              </a:ext>
            </a:extLst>
          </p:cNvPr>
          <p:cNvSpPr>
            <a:spLocks noGrp="1"/>
          </p:cNvSpPr>
          <p:nvPr/>
        </p:nvSpPr>
        <p:spPr>
          <a:xfrm>
            <a:off x="552450" y="1905000"/>
            <a:ext cx="260985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5A737D4-306A-49B8-A6E1-C005E9C6EF8E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姿态与环境鲁棒性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CB5392-56D5-4C9A-9736-F4A6C738E403}"/>
              </a:ext>
            </a:extLst>
          </p:cNvPr>
          <p:cNvSpPr>
            <a:spLocks noGrp="1"/>
          </p:cNvSpPr>
          <p:nvPr/>
        </p:nvSpPr>
        <p:spPr>
          <a:xfrm>
            <a:off x="3257550" y="1905000"/>
            <a:ext cx="9144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C8C043-ECA1-4C88-979B-A5195CE09690}"/>
              </a:ext>
            </a:extLst>
          </p:cNvPr>
          <p:cNvSpPr>
            <a:spLocks noGrp="1"/>
          </p:cNvSpPr>
          <p:nvPr/>
        </p:nvSpPr>
        <p:spPr>
          <a:xfrm>
            <a:off x="3371850" y="200025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96A397-4209-49B2-A692-B625E6D4BEBC}"/>
              </a:ext>
            </a:extLst>
          </p:cNvPr>
          <p:cNvSpPr>
            <a:spLocks noGrp="1"/>
          </p:cNvSpPr>
          <p:nvPr/>
        </p:nvSpPr>
        <p:spPr>
          <a:xfrm>
            <a:off x="4267200" y="1905000"/>
            <a:ext cx="29718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BC2C21-A096-4040-90CA-4397E6C4FD56}"/>
              </a:ext>
            </a:extLst>
          </p:cNvPr>
          <p:cNvSpPr>
            <a:spLocks noGrp="1"/>
          </p:cNvSpPr>
          <p:nvPr/>
        </p:nvSpPr>
        <p:spPr>
          <a:xfrm>
            <a:off x="4381500" y="200025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翻转、旋转、遮挡、弱光导致错分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4BD045-2102-4222-89E3-7F7BA4E2DD2D}"/>
              </a:ext>
            </a:extLst>
          </p:cNvPr>
          <p:cNvSpPr>
            <a:spLocks noGrp="1"/>
          </p:cNvSpPr>
          <p:nvPr/>
        </p:nvSpPr>
        <p:spPr>
          <a:xfrm>
            <a:off x="7334250" y="1905000"/>
            <a:ext cx="43053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CEE4D4-9507-4D0F-9273-EA57907AF19D}"/>
              </a:ext>
            </a:extLst>
          </p:cNvPr>
          <p:cNvSpPr>
            <a:spLocks noGrp="1"/>
          </p:cNvSpPr>
          <p:nvPr/>
        </p:nvSpPr>
        <p:spPr>
          <a:xfrm>
            <a:off x="7448550" y="200025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扩充测试集；归一化；方向/正反面单独建模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DE4190-765D-4FC7-A1ED-0E1E5C6D9540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260985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20CF94-5462-4665-91AA-2B266F5E433F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误触发与抖动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61C099-92A4-4ADC-AC81-89DFB08C401E}"/>
              </a:ext>
            </a:extLst>
          </p:cNvPr>
          <p:cNvSpPr>
            <a:spLocks noGrp="1"/>
          </p:cNvSpPr>
          <p:nvPr/>
        </p:nvSpPr>
        <p:spPr>
          <a:xfrm>
            <a:off x="3257550" y="2686050"/>
            <a:ext cx="9144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55605C-6323-4FC8-8F13-B6F3E20BDABD}"/>
              </a:ext>
            </a:extLst>
          </p:cNvPr>
          <p:cNvSpPr>
            <a:spLocks noGrp="1"/>
          </p:cNvSpPr>
          <p:nvPr/>
        </p:nvSpPr>
        <p:spPr>
          <a:xfrm>
            <a:off x="3371850" y="278130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88DA4D-B1CE-4E35-ACAC-3AE434FAFE9B}"/>
              </a:ext>
            </a:extLst>
          </p:cNvPr>
          <p:cNvSpPr>
            <a:spLocks noGrp="1"/>
          </p:cNvSpPr>
          <p:nvPr/>
        </p:nvSpPr>
        <p:spPr>
          <a:xfrm>
            <a:off x="4267200" y="2686050"/>
            <a:ext cx="29718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41FEF4-A188-4896-9851-5A5B37B3B835}"/>
              </a:ext>
            </a:extLst>
          </p:cNvPr>
          <p:cNvSpPr>
            <a:spLocks noGrp="1"/>
          </p:cNvSpPr>
          <p:nvPr/>
        </p:nvSpPr>
        <p:spPr>
          <a:xfrm>
            <a:off x="4381500" y="278130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单帧错误可能触发真实动作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B66CC7F-5DBC-436E-A003-B1483BA3B6C5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3053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13B657-5990-4D54-AE8D-CDC98B439975}"/>
              </a:ext>
            </a:extLst>
          </p:cNvPr>
          <p:cNvSpPr>
            <a:spLocks noGrp="1"/>
          </p:cNvSpPr>
          <p:nvPr/>
        </p:nvSpPr>
        <p:spPr>
          <a:xfrm>
            <a:off x="7448550" y="278130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连续帧确认；置信度门槛；冷却与撤销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0D48644-A94B-456C-BC11-CC453C84ABA8}"/>
              </a:ext>
            </a:extLst>
          </p:cNvPr>
          <p:cNvSpPr>
            <a:spLocks noGrp="1"/>
          </p:cNvSpPr>
          <p:nvPr/>
        </p:nvSpPr>
        <p:spPr>
          <a:xfrm>
            <a:off x="552450" y="3467100"/>
            <a:ext cx="260985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C6AD4A-1421-4114-AE84-8A61C131B238}"/>
              </a:ext>
            </a:extLst>
          </p:cNvPr>
          <p:cNvSpPr>
            <a:spLocks noGrp="1"/>
          </p:cNvSpPr>
          <p:nvPr/>
        </p:nvSpPr>
        <p:spPr>
          <a:xfrm>
            <a:off x="666750" y="35623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CPU / 能耗 / 温升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E91B09-0B5F-403E-BC29-AE4B43F404AC}"/>
              </a:ext>
            </a:extLst>
          </p:cNvPr>
          <p:cNvSpPr>
            <a:spLocks noGrp="1"/>
          </p:cNvSpPr>
          <p:nvPr/>
        </p:nvSpPr>
        <p:spPr>
          <a:xfrm>
            <a:off x="3257550" y="3467100"/>
            <a:ext cx="9144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33FCCE-0724-463F-B5F2-C65FF801F8BC}"/>
              </a:ext>
            </a:extLst>
          </p:cNvPr>
          <p:cNvSpPr>
            <a:spLocks noGrp="1"/>
          </p:cNvSpPr>
          <p:nvPr/>
        </p:nvSpPr>
        <p:spPr>
          <a:xfrm>
            <a:off x="3371850" y="356235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rPr>
              <a:t>中高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06C2492-76CE-467B-9350-F3845BD002F7}"/>
              </a:ext>
            </a:extLst>
          </p:cNvPr>
          <p:cNvSpPr>
            <a:spLocks noGrp="1"/>
          </p:cNvSpPr>
          <p:nvPr/>
        </p:nvSpPr>
        <p:spPr>
          <a:xfrm>
            <a:off x="4267200" y="3467100"/>
            <a:ext cx="29718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3B5A93A-4DDF-46B2-9485-EA46FA74CEA1}"/>
              </a:ext>
            </a:extLst>
          </p:cNvPr>
          <p:cNvSpPr>
            <a:spLocks noGrp="1"/>
          </p:cNvSpPr>
          <p:nvPr/>
        </p:nvSpPr>
        <p:spPr>
          <a:xfrm>
            <a:off x="4381500" y="356235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常驻高频检测影响续航与体验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569180D-5C86-40C5-A5E3-32733A721FB5}"/>
              </a:ext>
            </a:extLst>
          </p:cNvPr>
          <p:cNvSpPr>
            <a:spLocks noGrp="1"/>
          </p:cNvSpPr>
          <p:nvPr/>
        </p:nvSpPr>
        <p:spPr>
          <a:xfrm>
            <a:off x="7334250" y="3467100"/>
            <a:ext cx="43053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AA4BB6-0A84-411F-BA04-2D2CC4A30509}"/>
              </a:ext>
            </a:extLst>
          </p:cNvPr>
          <p:cNvSpPr>
            <a:spLocks noGrp="1"/>
          </p:cNvSpPr>
          <p:nvPr/>
        </p:nvSpPr>
        <p:spPr>
          <a:xfrm>
            <a:off x="7448550" y="356235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分级帧率；空闲降频；实测功耗曲线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911EEA-E083-449E-9C3C-B32779159CE0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260985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02C1EF6-CB2E-40B3-A8DF-2FD5D84E2D22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权限与动作安全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9AED63-7F1A-408E-90F3-41B8A13CBA57}"/>
              </a:ext>
            </a:extLst>
          </p:cNvPr>
          <p:cNvSpPr>
            <a:spLocks noGrp="1"/>
          </p:cNvSpPr>
          <p:nvPr/>
        </p:nvSpPr>
        <p:spPr>
          <a:xfrm>
            <a:off x="3257550" y="4248150"/>
            <a:ext cx="9144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2353E05-DC41-4283-BEB6-6CB934894C6A}"/>
              </a:ext>
            </a:extLst>
          </p:cNvPr>
          <p:cNvSpPr>
            <a:spLocks noGrp="1"/>
          </p:cNvSpPr>
          <p:nvPr/>
        </p:nvSpPr>
        <p:spPr>
          <a:xfrm>
            <a:off x="3371850" y="434340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7D7D"/>
                </a:solidFill>
                <a:latin typeface="PingFang SC"/>
                <a:ea typeface="PingFang SC"/>
                <a:cs typeface="PingFang SC"/>
              </a:rPr>
              <a:t>高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BB6D70C-6DB2-4E3E-A661-E7D3F4B5D8CA}"/>
              </a:ext>
            </a:extLst>
          </p:cNvPr>
          <p:cNvSpPr>
            <a:spLocks noGrp="1"/>
          </p:cNvSpPr>
          <p:nvPr/>
        </p:nvSpPr>
        <p:spPr>
          <a:xfrm>
            <a:off x="4267200" y="4248150"/>
            <a:ext cx="29718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688E64-29A4-40DC-9E53-691EB27BDE7D}"/>
              </a:ext>
            </a:extLst>
          </p:cNvPr>
          <p:cNvSpPr>
            <a:spLocks noGrp="1"/>
          </p:cNvSpPr>
          <p:nvPr/>
        </p:nvSpPr>
        <p:spPr>
          <a:xfrm>
            <a:off x="4381500" y="434340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摄像头、键盘控制、文件操作有风险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6BB03D2-5D2B-4822-AF1E-4D4A59AB12CC}"/>
              </a:ext>
            </a:extLst>
          </p:cNvPr>
          <p:cNvSpPr>
            <a:spLocks noGrp="1"/>
          </p:cNvSpPr>
          <p:nvPr/>
        </p:nvSpPr>
        <p:spPr>
          <a:xfrm>
            <a:off x="7334250" y="4248150"/>
            <a:ext cx="4305300" cy="704850"/>
          </a:xfrm>
          <a:prstGeom prst="rect">
            <a:avLst/>
          </a:prstGeom>
          <a:solidFill>
            <a:srgbClr val="0D2135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A55ABC9-1C39-497C-BCF7-F9C3C0A07DB7}"/>
              </a:ext>
            </a:extLst>
          </p:cNvPr>
          <p:cNvSpPr>
            <a:spLocks noGrp="1"/>
          </p:cNvSpPr>
          <p:nvPr/>
        </p:nvSpPr>
        <p:spPr>
          <a:xfrm>
            <a:off x="7448550" y="434340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本地处理；动作白名单；首次确认；审计日志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26AC081-7571-40CC-A877-364C059B3471}"/>
              </a:ext>
            </a:extLst>
          </p:cNvPr>
          <p:cNvSpPr>
            <a:spLocks noGrp="1"/>
          </p:cNvSpPr>
          <p:nvPr/>
        </p:nvSpPr>
        <p:spPr>
          <a:xfrm>
            <a:off x="552450" y="5029200"/>
            <a:ext cx="260985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0782C50-843B-4AAF-BDE2-A83423D9C3E7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跨应用兼容与失败恢复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0E6E477-096D-4567-A29B-D0388B0E2D20}"/>
              </a:ext>
            </a:extLst>
          </p:cNvPr>
          <p:cNvSpPr>
            <a:spLocks noGrp="1"/>
          </p:cNvSpPr>
          <p:nvPr/>
        </p:nvSpPr>
        <p:spPr>
          <a:xfrm>
            <a:off x="3257550" y="5029200"/>
            <a:ext cx="9144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BEA59DA-CD45-4FB8-9121-864FBDDC793E}"/>
              </a:ext>
            </a:extLst>
          </p:cNvPr>
          <p:cNvSpPr>
            <a:spLocks noGrp="1"/>
          </p:cNvSpPr>
          <p:nvPr/>
        </p:nvSpPr>
        <p:spPr>
          <a:xfrm>
            <a:off x="3371850" y="5124450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中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28E5C21-4D15-4AD2-9DA0-BB514D08AA5B}"/>
              </a:ext>
            </a:extLst>
          </p:cNvPr>
          <p:cNvSpPr>
            <a:spLocks noGrp="1"/>
          </p:cNvSpPr>
          <p:nvPr/>
        </p:nvSpPr>
        <p:spPr>
          <a:xfrm>
            <a:off x="4267200" y="5029200"/>
            <a:ext cx="29718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E23566-E80F-46CE-B8A4-4E5E83F7D818}"/>
              </a:ext>
            </a:extLst>
          </p:cNvPr>
          <p:cNvSpPr>
            <a:spLocks noGrp="1"/>
          </p:cNvSpPr>
          <p:nvPr/>
        </p:nvSpPr>
        <p:spPr>
          <a:xfrm>
            <a:off x="4381500" y="5124450"/>
            <a:ext cx="2743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焦点变化、系统权限或应用更新导致失败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6843CEA-416C-483E-A6F0-3B109E8E547F}"/>
              </a:ext>
            </a:extLst>
          </p:cNvPr>
          <p:cNvSpPr>
            <a:spLocks noGrp="1"/>
          </p:cNvSpPr>
          <p:nvPr/>
        </p:nvSpPr>
        <p:spPr>
          <a:xfrm>
            <a:off x="7334250" y="5029200"/>
            <a:ext cx="4305300" cy="704850"/>
          </a:xfrm>
          <a:prstGeom prst="rect">
            <a:avLst/>
          </a:prstGeom>
          <a:solidFill>
            <a:srgbClr val="0B1D2F"/>
          </a:solidFill>
          <a:ln w="9525">
            <a:solidFill>
              <a:srgbClr val="1E3A4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F81A413-6DBA-4C26-81EE-735C046544A4}"/>
              </a:ext>
            </a:extLst>
          </p:cNvPr>
          <p:cNvSpPr>
            <a:spLocks noGrp="1"/>
          </p:cNvSpPr>
          <p:nvPr/>
        </p:nvSpPr>
        <p:spPr>
          <a:xfrm>
            <a:off x="7448550" y="5124450"/>
            <a:ext cx="4076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动作适配层；结果回执；重试与降级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5B0160B6-E144-46B8-8C7C-4E88844248E6}"/>
              </a:ext>
            </a:extLst>
          </p:cNvPr>
          <p:cNvSpPr>
            <a:spLocks noGrp="1"/>
          </p:cNvSpPr>
          <p:nvPr/>
        </p:nvSpPr>
        <p:spPr>
          <a:xfrm>
            <a:off x="552450" y="5943600"/>
            <a:ext cx="11087100" cy="323850"/>
          </a:xfrm>
          <a:prstGeom prst="roundRect">
            <a:avLst>
              <a:gd name="adj" fmla="val 23529"/>
            </a:avLst>
          </a:prstGeom>
          <a:solidFill>
            <a:srgbClr val="231F20"/>
          </a:solidFill>
          <a:ln w="9525">
            <a:solidFill>
              <a:srgbClr val="6D5330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48A5F3E-8145-4E56-9622-24F49C50200D}"/>
              </a:ext>
            </a:extLst>
          </p:cNvPr>
          <p:cNvSpPr>
            <a:spLocks noGrp="1"/>
          </p:cNvSpPr>
          <p:nvPr/>
        </p:nvSpPr>
        <p:spPr>
          <a:xfrm>
            <a:off x="723900" y="6000750"/>
            <a:ext cx="10744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优先级原则：先阻止错误动作，再优化速度；先保证可退出、可撤销，再扩大手势数量。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FF75A28-929D-40F3-903D-81B721A512DA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DFCCF5D-65BB-4D9F-8EF2-F7A7AE182CE0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702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48B48D99-4151-4522-AC66-CAB25522226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altLang="zh-CN" sz="1050" b="1" dirty="0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7</a:t>
            </a:r>
            <a:endParaRPr sz="1050" b="1" dirty="0">
              <a:solidFill>
                <a:srgbClr val="64E1C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4EF010-3AEA-4BA5-AFA3-60CB232C8BFC}"/>
              </a:ext>
            </a:extLst>
          </p:cNvPr>
          <p:cNvSpPr>
            <a:spLocks noGrp="1"/>
          </p:cNvSpPr>
          <p:nvPr/>
        </p:nvSpPr>
        <p:spPr>
          <a:xfrm>
            <a:off x="1066800" y="323850"/>
            <a:ext cx="876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一周实验安排：用数据决定最终交互模式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144D76-3887-419A-94E0-95364BFFDCC6}"/>
              </a:ext>
            </a:extLst>
          </p:cNvPr>
          <p:cNvSpPr>
            <a:spLocks noGrp="1"/>
          </p:cNvSpPr>
          <p:nvPr/>
        </p:nvSpPr>
        <p:spPr>
          <a:xfrm>
            <a:off x="1066800" y="81915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5 个工作日完成基线、鲁棒性、交互与工具化闭环验证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7695BF-E2CB-4466-BA6F-3B866F48822D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110871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D7FB876-1AD0-4356-8294-E2C1A4ABB802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2019300" cy="2857500"/>
          </a:xfrm>
          <a:prstGeom prst="roundRect">
            <a:avLst>
              <a:gd name="adj" fmla="val 5660"/>
            </a:avLst>
          </a:prstGeom>
          <a:solidFill>
            <a:srgbClr val="0D2135"/>
          </a:solidFill>
          <a:ln w="9525">
            <a:solidFill>
              <a:srgbClr val="70C8FF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DED5DA3-1974-4046-B454-D6DFD920743E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70C8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88E8B6-C365-4CAA-B4CF-C0CB131DAC80}"/>
              </a:ext>
            </a:extLst>
          </p:cNvPr>
          <p:cNvSpPr>
            <a:spLocks noGrp="1"/>
          </p:cNvSpPr>
          <p:nvPr/>
        </p:nvSpPr>
        <p:spPr>
          <a:xfrm>
            <a:off x="742950" y="17049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0C8FF"/>
                </a:solidFill>
                <a:latin typeface="PingFang SC"/>
                <a:ea typeface="PingFang SC"/>
                <a:cs typeface="PingFang SC"/>
              </a:rPr>
              <a:t>D1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AD714D-8F35-4E0F-A66B-3439B55384CD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163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建立基线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67DB59-4958-4E66-9616-89EE9EDF025B}"/>
              </a:ext>
            </a:extLst>
          </p:cNvPr>
          <p:cNvSpPr>
            <a:spLocks noGrp="1"/>
          </p:cNvSpPr>
          <p:nvPr/>
        </p:nvSpPr>
        <p:spPr>
          <a:xfrm>
            <a:off x="742950" y="2781300"/>
            <a:ext cx="16383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1915B0-4F80-45C7-B2D2-6747B665BE66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163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固定测试脚本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记录准确率、P95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CPU/内存基线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5F35062-E541-416E-B5B8-DB8C358ACE03}"/>
              </a:ext>
            </a:extLst>
          </p:cNvPr>
          <p:cNvSpPr>
            <a:spLocks noGrp="1"/>
          </p:cNvSpPr>
          <p:nvPr/>
        </p:nvSpPr>
        <p:spPr>
          <a:xfrm>
            <a:off x="2762250" y="1504950"/>
            <a:ext cx="2019300" cy="2857500"/>
          </a:xfrm>
          <a:prstGeom prst="roundRect">
            <a:avLst>
              <a:gd name="adj" fmla="val 5660"/>
            </a:avLst>
          </a:prstGeom>
          <a:solidFill>
            <a:srgbClr val="0D2135"/>
          </a:solidFill>
          <a:ln w="9525">
            <a:solidFill>
              <a:srgbClr val="64E1C3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D3EF926-5D23-47C2-B29D-D9C89ED81D90}"/>
              </a:ext>
            </a:extLst>
          </p:cNvPr>
          <p:cNvSpPr>
            <a:spLocks noGrp="1"/>
          </p:cNvSpPr>
          <p:nvPr/>
        </p:nvSpPr>
        <p:spPr>
          <a:xfrm>
            <a:off x="2952750" y="1695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64E1C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D27D6A-0D70-43AC-A5FD-0872FB73676C}"/>
              </a:ext>
            </a:extLst>
          </p:cNvPr>
          <p:cNvSpPr>
            <a:spLocks noGrp="1"/>
          </p:cNvSpPr>
          <p:nvPr/>
        </p:nvSpPr>
        <p:spPr>
          <a:xfrm>
            <a:off x="2952750" y="17049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D2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043814-6164-4C93-AD56-7ADC7D59B4DF}"/>
              </a:ext>
            </a:extLst>
          </p:cNvPr>
          <p:cNvSpPr>
            <a:spLocks noGrp="1"/>
          </p:cNvSpPr>
          <p:nvPr/>
        </p:nvSpPr>
        <p:spPr>
          <a:xfrm>
            <a:off x="2952750" y="2171700"/>
            <a:ext cx="163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鲁棒性测试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188016-4622-42F6-97DC-729F895FDDE7}"/>
              </a:ext>
            </a:extLst>
          </p:cNvPr>
          <p:cNvSpPr>
            <a:spLocks noGrp="1"/>
          </p:cNvSpPr>
          <p:nvPr/>
        </p:nvSpPr>
        <p:spPr>
          <a:xfrm>
            <a:off x="2952750" y="2781300"/>
            <a:ext cx="16383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BA48B3-2B36-4C11-AF10-5D5532A85796}"/>
              </a:ext>
            </a:extLst>
          </p:cNvPr>
          <p:cNvSpPr>
            <a:spLocks noGrp="1"/>
          </p:cNvSpPr>
          <p:nvPr/>
        </p:nvSpPr>
        <p:spPr>
          <a:xfrm>
            <a:off x="2952750" y="3009900"/>
            <a:ext cx="163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正反面、旋转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弱光、遮挡、距离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形成失败矩阵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48271CB-3F63-4935-A8B0-4BF59208F1B9}"/>
              </a:ext>
            </a:extLst>
          </p:cNvPr>
          <p:cNvSpPr>
            <a:spLocks noGrp="1"/>
          </p:cNvSpPr>
          <p:nvPr/>
        </p:nvSpPr>
        <p:spPr>
          <a:xfrm>
            <a:off x="4972050" y="1504950"/>
            <a:ext cx="2019300" cy="2857500"/>
          </a:xfrm>
          <a:prstGeom prst="roundRect">
            <a:avLst>
              <a:gd name="adj" fmla="val 5660"/>
            </a:avLst>
          </a:prstGeom>
          <a:solidFill>
            <a:srgbClr val="0D2135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CAE68E5-C5C9-4C66-8E5B-08167F945658}"/>
              </a:ext>
            </a:extLst>
          </p:cNvPr>
          <p:cNvSpPr>
            <a:spLocks noGrp="1"/>
          </p:cNvSpPr>
          <p:nvPr/>
        </p:nvSpPr>
        <p:spPr>
          <a:xfrm>
            <a:off x="5162550" y="1695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6AC915-3AD1-4E94-9A15-D1193AF160D9}"/>
              </a:ext>
            </a:extLst>
          </p:cNvPr>
          <p:cNvSpPr>
            <a:spLocks noGrp="1"/>
          </p:cNvSpPr>
          <p:nvPr/>
        </p:nvSpPr>
        <p:spPr>
          <a:xfrm>
            <a:off x="5162550" y="17049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6C85F"/>
                </a:solidFill>
                <a:latin typeface="PingFang SC"/>
                <a:ea typeface="PingFang SC"/>
                <a:cs typeface="PingFang SC"/>
              </a:rPr>
              <a:t>D3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7398F8-3A7C-404A-8349-148FB62F5E4A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163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交互模式对比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1B73518-BBFC-496A-B4AC-F2C4189F2A9B}"/>
              </a:ext>
            </a:extLst>
          </p:cNvPr>
          <p:cNvSpPr>
            <a:spLocks noGrp="1"/>
          </p:cNvSpPr>
          <p:nvPr/>
        </p:nvSpPr>
        <p:spPr>
          <a:xfrm>
            <a:off x="5162550" y="2781300"/>
            <a:ext cx="16383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B57A349-214D-473C-B4AD-110EF3136416}"/>
              </a:ext>
            </a:extLst>
          </p:cNvPr>
          <p:cNvSpPr>
            <a:spLocks noGrp="1"/>
          </p:cNvSpPr>
          <p:nvPr/>
        </p:nvSpPr>
        <p:spPr>
          <a:xfrm>
            <a:off x="5162550" y="3009900"/>
            <a:ext cx="163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单次 / 实时 / 指令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Thumb Up 守候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误触发与资源对比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AA61207F-7C38-4C92-A136-0F56E4632ACC}"/>
              </a:ext>
            </a:extLst>
          </p:cNvPr>
          <p:cNvSpPr>
            <a:spLocks noGrp="1"/>
          </p:cNvSpPr>
          <p:nvPr/>
        </p:nvSpPr>
        <p:spPr>
          <a:xfrm>
            <a:off x="7181850" y="1504950"/>
            <a:ext cx="2019300" cy="2857500"/>
          </a:xfrm>
          <a:prstGeom prst="roundRect">
            <a:avLst>
              <a:gd name="adj" fmla="val 5660"/>
            </a:avLst>
          </a:prstGeom>
          <a:solidFill>
            <a:srgbClr val="0D2135"/>
          </a:solidFill>
          <a:ln w="9525">
            <a:solidFill>
              <a:srgbClr val="7EE0A3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2A457EF-1CE2-4C56-9866-8C7EA42A30FC}"/>
              </a:ext>
            </a:extLst>
          </p:cNvPr>
          <p:cNvSpPr>
            <a:spLocks noGrp="1"/>
          </p:cNvSpPr>
          <p:nvPr/>
        </p:nvSpPr>
        <p:spPr>
          <a:xfrm>
            <a:off x="7372350" y="1695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7EE0A3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2D2D28-F336-4AFC-AF70-9E8B67BBF974}"/>
              </a:ext>
            </a:extLst>
          </p:cNvPr>
          <p:cNvSpPr>
            <a:spLocks noGrp="1"/>
          </p:cNvSpPr>
          <p:nvPr/>
        </p:nvSpPr>
        <p:spPr>
          <a:xfrm>
            <a:off x="7372350" y="17049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D4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695907-4090-4885-949B-528E19C25813}"/>
              </a:ext>
            </a:extLst>
          </p:cNvPr>
          <p:cNvSpPr>
            <a:spLocks noGrp="1"/>
          </p:cNvSpPr>
          <p:nvPr/>
        </p:nvSpPr>
        <p:spPr>
          <a:xfrm>
            <a:off x="7372350" y="2171700"/>
            <a:ext cx="163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MCP 工具原型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F8B29C-0983-4E65-8F9B-02EA2AF4394A}"/>
              </a:ext>
            </a:extLst>
          </p:cNvPr>
          <p:cNvSpPr>
            <a:spLocks noGrp="1"/>
          </p:cNvSpPr>
          <p:nvPr/>
        </p:nvSpPr>
        <p:spPr>
          <a:xfrm>
            <a:off x="7372350" y="2781300"/>
            <a:ext cx="16383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254FA90-76C7-4600-88EA-EBB93280D3AF}"/>
              </a:ext>
            </a:extLst>
          </p:cNvPr>
          <p:cNvSpPr>
            <a:spLocks noGrp="1"/>
          </p:cNvSpPr>
          <p:nvPr/>
        </p:nvSpPr>
        <p:spPr>
          <a:xfrm>
            <a:off x="7372350" y="3009900"/>
            <a:ext cx="163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会话控制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等待手势事件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动作白名单与回执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CA25919-6143-44C2-9B44-6509384546F7}"/>
              </a:ext>
            </a:extLst>
          </p:cNvPr>
          <p:cNvSpPr>
            <a:spLocks noGrp="1"/>
          </p:cNvSpPr>
          <p:nvPr/>
        </p:nvSpPr>
        <p:spPr>
          <a:xfrm>
            <a:off x="9391650" y="1504950"/>
            <a:ext cx="2019300" cy="2857500"/>
          </a:xfrm>
          <a:prstGeom prst="roundRect">
            <a:avLst>
              <a:gd name="adj" fmla="val 5660"/>
            </a:avLst>
          </a:prstGeom>
          <a:solidFill>
            <a:srgbClr val="0D2135"/>
          </a:solidFill>
          <a:ln w="9525">
            <a:solidFill>
              <a:srgbClr val="5D8CFF"/>
            </a:solidFill>
            <a:prstDash val="solid"/>
          </a:ln>
        </p:spPr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9222329C-B00F-4F21-AC6A-13F5E848651D}"/>
              </a:ext>
            </a:extLst>
          </p:cNvPr>
          <p:cNvSpPr>
            <a:spLocks noGrp="1"/>
          </p:cNvSpPr>
          <p:nvPr/>
        </p:nvSpPr>
        <p:spPr>
          <a:xfrm>
            <a:off x="9582150" y="1695450"/>
            <a:ext cx="514350" cy="285750"/>
          </a:xfrm>
          <a:prstGeom prst="roundRect">
            <a:avLst>
              <a:gd name="adj" fmla="val 50000"/>
            </a:avLst>
          </a:prstGeom>
          <a:solidFill>
            <a:srgbClr val="102B38"/>
          </a:solidFill>
          <a:ln w="9525">
            <a:solidFill>
              <a:srgbClr val="5D8CF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87C680-D9F7-46A4-8D84-C0B63A6DD92F}"/>
              </a:ext>
            </a:extLst>
          </p:cNvPr>
          <p:cNvSpPr>
            <a:spLocks noGrp="1"/>
          </p:cNvSpPr>
          <p:nvPr/>
        </p:nvSpPr>
        <p:spPr>
          <a:xfrm>
            <a:off x="9582150" y="17049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1">
                <a:solidFill>
                  <a:srgbClr val="5D8C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5D8CFF"/>
                </a:solidFill>
                <a:latin typeface="PingFang SC"/>
                <a:ea typeface="PingFang SC"/>
                <a:cs typeface="PingFang SC"/>
              </a:rPr>
              <a:t>D5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B82FA8-4710-4F48-A2AE-03FE470FFA9A}"/>
              </a:ext>
            </a:extLst>
          </p:cNvPr>
          <p:cNvSpPr>
            <a:spLocks noGrp="1"/>
          </p:cNvSpPr>
          <p:nvPr/>
        </p:nvSpPr>
        <p:spPr>
          <a:xfrm>
            <a:off x="9582150" y="2171700"/>
            <a:ext cx="1638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回归与结论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167855-104D-4DF5-9CF1-99023F10C915}"/>
              </a:ext>
            </a:extLst>
          </p:cNvPr>
          <p:cNvSpPr>
            <a:spLocks noGrp="1"/>
          </p:cNvSpPr>
          <p:nvPr/>
        </p:nvSpPr>
        <p:spPr>
          <a:xfrm>
            <a:off x="9582150" y="2781300"/>
            <a:ext cx="1638300" cy="19050"/>
          </a:xfrm>
          <a:prstGeom prst="rect">
            <a:avLst/>
          </a:prstGeom>
          <a:solidFill>
            <a:srgbClr val="1E3A4D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3D83B75-41EC-4127-A641-B6F7CD53E2E7}"/>
              </a:ext>
            </a:extLst>
          </p:cNvPr>
          <p:cNvSpPr>
            <a:spLocks noGrp="1"/>
          </p:cNvSpPr>
          <p:nvPr/>
        </p:nvSpPr>
        <p:spPr>
          <a:xfrm>
            <a:off x="9582150" y="3009900"/>
            <a:ext cx="16383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连续运行测试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失败恢复</a:t>
            </a:r>
          </a:p>
          <a:p>
            <a:pPr algn="l">
              <a:lnSpc>
                <a:spcPct val="125000"/>
              </a:lnSpc>
              <a:buNone/>
              <a:def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给出推荐方案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1F14971-2819-49FC-92CD-4BCB86A1A41B}"/>
              </a:ext>
            </a:extLst>
          </p:cNvPr>
          <p:cNvSpPr>
            <a:spLocks noGrp="1"/>
          </p:cNvSpPr>
          <p:nvPr/>
        </p:nvSpPr>
        <p:spPr>
          <a:xfrm>
            <a:off x="552450" y="4686300"/>
            <a:ext cx="11087100" cy="1466850"/>
          </a:xfrm>
          <a:prstGeom prst="roundRect">
            <a:avLst>
              <a:gd name="adj" fmla="val 7792"/>
            </a:avLst>
          </a:prstGeom>
          <a:solidFill>
            <a:srgbClr val="0A2630"/>
          </a:solidFill>
          <a:ln w="9525">
            <a:solidFill>
              <a:srgbClr val="1A5B59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FFD143-E72F-4E1A-9B9E-C213B707D45C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4E1C3"/>
                </a:solidFill>
                <a:latin typeface="PingFang SC"/>
                <a:ea typeface="PingFang SC"/>
                <a:cs typeface="PingFang SC"/>
              </a:rPr>
              <a:t>本周验收输出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3902BF-2B2C-47D6-962C-1FD151A08F3C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准确性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523C7C8-CEFC-4E16-9A41-AD8B5DB63293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按姿态/环境拆分的混淆矩阵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B79C18A-B72B-4E58-8E4C-48D6417239B4}"/>
              </a:ext>
            </a:extLst>
          </p:cNvPr>
          <p:cNvSpPr>
            <a:spLocks noGrp="1"/>
          </p:cNvSpPr>
          <p:nvPr/>
        </p:nvSpPr>
        <p:spPr>
          <a:xfrm>
            <a:off x="2876550" y="53149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时延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F126736-5D99-46B3-9409-45AC84857D6D}"/>
              </a:ext>
            </a:extLst>
          </p:cNvPr>
          <p:cNvSpPr>
            <a:spLocks noGrp="1"/>
          </p:cNvSpPr>
          <p:nvPr/>
        </p:nvSpPr>
        <p:spPr>
          <a:xfrm>
            <a:off x="2876550" y="56197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算法与端到端 P50 / P95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F41C156-2D30-4A61-8441-609457E36F9B}"/>
              </a:ext>
            </a:extLst>
          </p:cNvPr>
          <p:cNvSpPr>
            <a:spLocks noGrp="1"/>
          </p:cNvSpPr>
          <p:nvPr/>
        </p:nvSpPr>
        <p:spPr>
          <a:xfrm>
            <a:off x="4972050" y="53149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稳定性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2DB9E07-7E2F-4127-9B51-2CCB33100600}"/>
              </a:ext>
            </a:extLst>
          </p:cNvPr>
          <p:cNvSpPr>
            <a:spLocks noGrp="1"/>
          </p:cNvSpPr>
          <p:nvPr/>
        </p:nvSpPr>
        <p:spPr>
          <a:xfrm>
            <a:off x="4972050" y="56197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误触发率、漏触发率、连续运行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0CB90DA-4772-4579-8994-4E17CC7A9C39}"/>
              </a:ext>
            </a:extLst>
          </p:cNvPr>
          <p:cNvSpPr>
            <a:spLocks noGrp="1"/>
          </p:cNvSpPr>
          <p:nvPr/>
        </p:nvSpPr>
        <p:spPr>
          <a:xfrm>
            <a:off x="7067550" y="53149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F8FA"/>
                </a:solidFill>
                <a:latin typeface="PingFang SC"/>
                <a:ea typeface="PingFang SC"/>
                <a:cs typeface="PingFang SC"/>
              </a:rPr>
              <a:t>资源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9453EDB-9E52-494F-9A3A-8008BD8090D3}"/>
              </a:ext>
            </a:extLst>
          </p:cNvPr>
          <p:cNvSpPr>
            <a:spLocks noGrp="1"/>
          </p:cNvSpPr>
          <p:nvPr/>
        </p:nvSpPr>
        <p:spPr>
          <a:xfrm>
            <a:off x="7067550" y="56197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CPU、内存、能耗与温升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B78BFEC-AC1C-4817-8CE7-FA22060C040F}"/>
              </a:ext>
            </a:extLst>
          </p:cNvPr>
          <p:cNvSpPr>
            <a:spLocks noGrp="1"/>
          </p:cNvSpPr>
          <p:nvPr/>
        </p:nvSpPr>
        <p:spPr>
          <a:xfrm>
            <a:off x="9163050" y="53149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7EE0A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EE0A3"/>
                </a:solidFill>
                <a:latin typeface="PingFang SC"/>
                <a:ea typeface="PingFang SC"/>
                <a:cs typeface="PingFang SC"/>
              </a:rPr>
              <a:t>工程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14CFF9-2722-4A87-ABDC-5EB37330CBA0}"/>
              </a:ext>
            </a:extLst>
          </p:cNvPr>
          <p:cNvSpPr>
            <a:spLocks noGrp="1"/>
          </p:cNvSpPr>
          <p:nvPr/>
        </p:nvSpPr>
        <p:spPr>
          <a:xfrm>
            <a:off x="9163050" y="561975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可调用 MCP 原型 + 安全回退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2D9D262-3F6D-4860-B2B0-9228D6A8F11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0798B"/>
                </a:solidFill>
                <a:latin typeface="PingFang SC"/>
                <a:ea typeface="PingFang SC"/>
                <a:cs typeface="PingFang SC"/>
              </a:rPr>
              <a:t>手势识别 × MCP 触发｜阶段进展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45DABFF-7F15-498C-B0FD-2318E08EBADE}"/>
              </a:ext>
            </a:extLst>
          </p:cNvPr>
          <p:cNvSpPr>
            <a:spLocks noGrp="1"/>
          </p:cNvSpPr>
          <p:nvPr/>
        </p:nvSpPr>
        <p:spPr>
          <a:xfrm>
            <a:off x="11125200" y="64770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1A7B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902001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Macintosh PowerPoint</Application>
  <DocSecurity>0</DocSecurity>
  <PresentationFormat>宽屏</PresentationFormat>
  <Paragraphs>233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潍久 张</cp:lastModifiedBy>
  <cp:revision>1</cp:revision>
  <dcterms:created xsi:type="dcterms:W3CDTF">2026-09-01T02:25:58Z</dcterms:created>
  <dcterms:modified xsi:type="dcterms:W3CDTF">2026-09-01T04:25:59Z</dcterms:modified>
</cp:coreProperties>
</file>